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0"/>
  </p:notesMasterIdLst>
  <p:sldIdLst>
    <p:sldId id="310" r:id="rId2"/>
    <p:sldId id="294" r:id="rId3"/>
    <p:sldId id="312" r:id="rId4"/>
    <p:sldId id="313" r:id="rId5"/>
    <p:sldId id="320" r:id="rId6"/>
    <p:sldId id="376" r:id="rId7"/>
    <p:sldId id="377" r:id="rId8"/>
    <p:sldId id="362" r:id="rId9"/>
    <p:sldId id="378" r:id="rId10"/>
    <p:sldId id="363" r:id="rId11"/>
    <p:sldId id="364" r:id="rId12"/>
    <p:sldId id="337" r:id="rId13"/>
    <p:sldId id="365" r:id="rId14"/>
    <p:sldId id="338" r:id="rId15"/>
    <p:sldId id="367" r:id="rId16"/>
    <p:sldId id="379" r:id="rId17"/>
    <p:sldId id="368" r:id="rId18"/>
    <p:sldId id="369" r:id="rId19"/>
    <p:sldId id="370" r:id="rId20"/>
    <p:sldId id="371" r:id="rId21"/>
    <p:sldId id="373" r:id="rId22"/>
    <p:sldId id="339" r:id="rId23"/>
    <p:sldId id="372" r:id="rId24"/>
    <p:sldId id="374" r:id="rId25"/>
    <p:sldId id="380" r:id="rId26"/>
    <p:sldId id="375" r:id="rId27"/>
    <p:sldId id="381" r:id="rId28"/>
    <p:sldId id="321" r:id="rId29"/>
  </p:sldIdLst>
  <p:sldSz cx="12192000" cy="6858000"/>
  <p:notesSz cx="6797675" cy="99282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djo Essohana AGAMAH" initials="KEA" lastIdx="0" clrIdx="0">
    <p:extLst>
      <p:ext uri="{19B8F6BF-5375-455C-9EA6-DF929625EA0E}">
        <p15:presenceInfo xmlns:p15="http://schemas.microsoft.com/office/powerpoint/2012/main" userId="S-1-5-21-3641120739-3787442525-4082854133-117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A4780"/>
    <a:srgbClr val="1F4E79"/>
    <a:srgbClr val="DE37A1"/>
    <a:srgbClr val="DCB814"/>
    <a:srgbClr val="777909"/>
    <a:srgbClr val="0FA737"/>
    <a:srgbClr val="000000"/>
    <a:srgbClr val="FF9A4E"/>
    <a:srgbClr val="14C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76014" autoAdjust="0"/>
  </p:normalViewPr>
  <p:slideViewPr>
    <p:cSldViewPr snapToGrid="0">
      <p:cViewPr varScale="1">
        <p:scale>
          <a:sx n="124" d="100"/>
          <a:sy n="124" d="100"/>
        </p:scale>
        <p:origin x="385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D9F2AE-6362-4447-8BC5-39F74C5C923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fr-FR"/>
        </a:p>
      </dgm:t>
    </dgm:pt>
    <dgm:pt modelId="{259973B1-95C4-489B-AE86-03D546367CBE}">
      <dgm:prSet/>
      <dgm:spPr/>
      <dgm:t>
        <a:bodyPr/>
        <a:lstStyle/>
        <a:p>
          <a:pPr rtl="0"/>
          <a:r>
            <a:rPr lang="fr-FR" b="1" dirty="0">
              <a:latin typeface="Tw Cen MT" panose="020B0602020104020603" pitchFamily="34" charset="0"/>
            </a:rPr>
            <a:t>I. </a:t>
          </a:r>
          <a:r>
            <a:rPr lang="fr-FR" b="1" dirty="0" smtClean="0">
              <a:latin typeface="Tw Cen MT" panose="020B0602020104020603" pitchFamily="34" charset="0"/>
              <a:cs typeface="Times New Roman" panose="02020603050405020304" pitchFamily="18" charset="0"/>
            </a:rPr>
            <a:t>MODIFICATIONS </a:t>
          </a:r>
          <a:r>
            <a:rPr lang="fr-FR" b="1" dirty="0">
              <a:latin typeface="Tw Cen MT" panose="020B0602020104020603" pitchFamily="34" charset="0"/>
              <a:cs typeface="Times New Roman" panose="02020603050405020304" pitchFamily="18" charset="0"/>
            </a:rPr>
            <a:t>DU CGI &amp; </a:t>
          </a:r>
          <a:r>
            <a:rPr lang="fr-FR" b="1" dirty="0" smtClean="0">
              <a:latin typeface="Tw Cen MT" panose="020B0602020104020603" pitchFamily="34" charset="0"/>
              <a:cs typeface="Times New Roman" panose="02020603050405020304" pitchFamily="18" charset="0"/>
            </a:rPr>
            <a:t>LPF ET DU CDN </a:t>
          </a:r>
          <a:r>
            <a:rPr lang="fr-FR" b="1" dirty="0">
              <a:latin typeface="Tw Cen MT" panose="020B0602020104020603" pitchFamily="34" charset="0"/>
              <a:cs typeface="Times New Roman" panose="02020603050405020304" pitchFamily="18" charset="0"/>
            </a:rPr>
            <a:t>PAR LA LOI DE  FINANCES EXERCICE </a:t>
          </a:r>
          <a:r>
            <a:rPr lang="fr-FR" b="1" dirty="0" smtClean="0">
              <a:latin typeface="Tw Cen MT" panose="020B0602020104020603" pitchFamily="34" charset="0"/>
              <a:cs typeface="Times New Roman" panose="02020603050405020304" pitchFamily="18" charset="0"/>
            </a:rPr>
            <a:t>2023</a:t>
          </a:r>
          <a:endParaRPr lang="fr-FR" dirty="0">
            <a:latin typeface="Tw Cen MT" panose="020B0602020104020603" pitchFamily="34" charset="0"/>
          </a:endParaRPr>
        </a:p>
      </dgm:t>
    </dgm:pt>
    <dgm:pt modelId="{ECD156CA-EFAA-47F0-B025-CAF480708E80}" type="parTrans" cxnId="{DEFE90D0-7398-422F-BA14-522A6C400533}">
      <dgm:prSet/>
      <dgm:spPr/>
      <dgm:t>
        <a:bodyPr/>
        <a:lstStyle/>
        <a:p>
          <a:endParaRPr lang="fr-FR"/>
        </a:p>
      </dgm:t>
    </dgm:pt>
    <dgm:pt modelId="{BFE5C921-0D6B-46BF-91F9-93C2C3F9E18E}" type="sibTrans" cxnId="{DEFE90D0-7398-422F-BA14-522A6C400533}">
      <dgm:prSet/>
      <dgm:spPr/>
      <dgm:t>
        <a:bodyPr/>
        <a:lstStyle/>
        <a:p>
          <a:endParaRPr lang="fr-FR"/>
        </a:p>
      </dgm:t>
    </dgm:pt>
    <dgm:pt modelId="{84E8ED56-D9B4-473F-9EE7-11EA64973A92}">
      <dgm:prSet/>
      <dgm:spPr/>
      <dgm:t>
        <a:bodyPr/>
        <a:lstStyle/>
        <a:p>
          <a:pPr rtl="0"/>
          <a:r>
            <a:rPr lang="fr-FR" b="1" dirty="0">
              <a:latin typeface="Tw Cen MT" panose="020B0602020104020603" pitchFamily="34" charset="0"/>
            </a:rPr>
            <a:t>II. </a:t>
          </a:r>
          <a:r>
            <a:rPr lang="fr-FR" b="1" dirty="0">
              <a:latin typeface="Tw Cen MT" panose="020B0602020104020603" pitchFamily="34" charset="0"/>
              <a:cs typeface="Times New Roman" panose="02020603050405020304" pitchFamily="18" charset="0"/>
            </a:rPr>
            <a:t>MESURES SPECIFIQUES</a:t>
          </a:r>
          <a:endParaRPr lang="fr-FR" b="1" dirty="0">
            <a:latin typeface="Tw Cen MT" panose="020B0602020104020603" pitchFamily="34" charset="0"/>
          </a:endParaRPr>
        </a:p>
      </dgm:t>
    </dgm:pt>
    <dgm:pt modelId="{82AA19DB-26CE-4E87-B06B-2D6D8DB61E9B}" type="sibTrans" cxnId="{34D04693-25FA-43BF-8B1C-B0002DB1F970}">
      <dgm:prSet/>
      <dgm:spPr/>
      <dgm:t>
        <a:bodyPr/>
        <a:lstStyle/>
        <a:p>
          <a:endParaRPr lang="fr-FR"/>
        </a:p>
      </dgm:t>
    </dgm:pt>
    <dgm:pt modelId="{11616102-AD94-4B45-941C-8A7CFF75E96A}" type="parTrans" cxnId="{34D04693-25FA-43BF-8B1C-B0002DB1F970}">
      <dgm:prSet/>
      <dgm:spPr/>
      <dgm:t>
        <a:bodyPr/>
        <a:lstStyle/>
        <a:p>
          <a:endParaRPr lang="fr-FR"/>
        </a:p>
      </dgm:t>
    </dgm:pt>
    <dgm:pt modelId="{B3A75742-C81C-4C5F-A064-2B7DDF723A31}" type="pres">
      <dgm:prSet presAssocID="{80D9F2AE-6362-4447-8BC5-39F74C5C923A}" presName="linear" presStyleCnt="0">
        <dgm:presLayoutVars>
          <dgm:animLvl val="lvl"/>
          <dgm:resizeHandles val="exact"/>
        </dgm:presLayoutVars>
      </dgm:prSet>
      <dgm:spPr/>
      <dgm:t>
        <a:bodyPr/>
        <a:lstStyle/>
        <a:p>
          <a:endParaRPr lang="fr-FR"/>
        </a:p>
      </dgm:t>
    </dgm:pt>
    <dgm:pt modelId="{31592F02-4053-44E8-9160-D71A30DC0F25}" type="pres">
      <dgm:prSet presAssocID="{259973B1-95C4-489B-AE86-03D546367CBE}" presName="parentText" presStyleLbl="node1" presStyleIdx="0" presStyleCnt="2">
        <dgm:presLayoutVars>
          <dgm:chMax val="0"/>
          <dgm:bulletEnabled val="1"/>
        </dgm:presLayoutVars>
      </dgm:prSet>
      <dgm:spPr/>
      <dgm:t>
        <a:bodyPr/>
        <a:lstStyle/>
        <a:p>
          <a:endParaRPr lang="fr-FR"/>
        </a:p>
      </dgm:t>
    </dgm:pt>
    <dgm:pt modelId="{63979D9C-6C21-4BD7-81B0-61AAED33D84F}" type="pres">
      <dgm:prSet presAssocID="{BFE5C921-0D6B-46BF-91F9-93C2C3F9E18E}" presName="spacer" presStyleCnt="0"/>
      <dgm:spPr/>
    </dgm:pt>
    <dgm:pt modelId="{A1E68AA3-C044-4801-A607-A215F0BE67D7}" type="pres">
      <dgm:prSet presAssocID="{84E8ED56-D9B4-473F-9EE7-11EA64973A92}" presName="parentText" presStyleLbl="node1" presStyleIdx="1" presStyleCnt="2">
        <dgm:presLayoutVars>
          <dgm:chMax val="0"/>
          <dgm:bulletEnabled val="1"/>
        </dgm:presLayoutVars>
      </dgm:prSet>
      <dgm:spPr/>
      <dgm:t>
        <a:bodyPr/>
        <a:lstStyle/>
        <a:p>
          <a:endParaRPr lang="fr-FR"/>
        </a:p>
      </dgm:t>
    </dgm:pt>
  </dgm:ptLst>
  <dgm:cxnLst>
    <dgm:cxn modelId="{0AC1F11A-DD86-4B0C-B931-DFCFCB5163B5}" type="presOf" srcId="{80D9F2AE-6362-4447-8BC5-39F74C5C923A}" destId="{B3A75742-C81C-4C5F-A064-2B7DDF723A31}" srcOrd="0" destOrd="0" presId="urn:microsoft.com/office/officeart/2005/8/layout/vList2"/>
    <dgm:cxn modelId="{F0E5AB35-1FB9-4BFD-90CD-3E523A6F7D75}" type="presOf" srcId="{84E8ED56-D9B4-473F-9EE7-11EA64973A92}" destId="{A1E68AA3-C044-4801-A607-A215F0BE67D7}" srcOrd="0" destOrd="0" presId="urn:microsoft.com/office/officeart/2005/8/layout/vList2"/>
    <dgm:cxn modelId="{9666B6C2-C8C8-43CA-9E38-ABD139706357}" type="presOf" srcId="{259973B1-95C4-489B-AE86-03D546367CBE}" destId="{31592F02-4053-44E8-9160-D71A30DC0F25}" srcOrd="0" destOrd="0" presId="urn:microsoft.com/office/officeart/2005/8/layout/vList2"/>
    <dgm:cxn modelId="{DEFE90D0-7398-422F-BA14-522A6C400533}" srcId="{80D9F2AE-6362-4447-8BC5-39F74C5C923A}" destId="{259973B1-95C4-489B-AE86-03D546367CBE}" srcOrd="0" destOrd="0" parTransId="{ECD156CA-EFAA-47F0-B025-CAF480708E80}" sibTransId="{BFE5C921-0D6B-46BF-91F9-93C2C3F9E18E}"/>
    <dgm:cxn modelId="{34D04693-25FA-43BF-8B1C-B0002DB1F970}" srcId="{80D9F2AE-6362-4447-8BC5-39F74C5C923A}" destId="{84E8ED56-D9B4-473F-9EE7-11EA64973A92}" srcOrd="1" destOrd="0" parTransId="{11616102-AD94-4B45-941C-8A7CFF75E96A}" sibTransId="{82AA19DB-26CE-4E87-B06B-2D6D8DB61E9B}"/>
    <dgm:cxn modelId="{9761E864-5E85-4D46-AD2D-06B79EA70CFB}" type="presParOf" srcId="{B3A75742-C81C-4C5F-A064-2B7DDF723A31}" destId="{31592F02-4053-44E8-9160-D71A30DC0F25}" srcOrd="0" destOrd="0" presId="urn:microsoft.com/office/officeart/2005/8/layout/vList2"/>
    <dgm:cxn modelId="{1FAAEA4D-493C-4C56-905A-380CA164D197}" type="presParOf" srcId="{B3A75742-C81C-4C5F-A064-2B7DDF723A31}" destId="{63979D9C-6C21-4BD7-81B0-61AAED33D84F}" srcOrd="1" destOrd="0" presId="urn:microsoft.com/office/officeart/2005/8/layout/vList2"/>
    <dgm:cxn modelId="{853C4816-E6D4-456C-98E7-8D92300F9EA3}" type="presParOf" srcId="{B3A75742-C81C-4C5F-A064-2B7DDF723A31}" destId="{A1E68AA3-C044-4801-A607-A215F0BE67D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92F02-4053-44E8-9160-D71A30DC0F25}">
      <dsp:nvSpPr>
        <dsp:cNvPr id="0" name=""/>
        <dsp:cNvSpPr/>
      </dsp:nvSpPr>
      <dsp:spPr>
        <a:xfrm>
          <a:off x="0" y="15204"/>
          <a:ext cx="9813370" cy="226395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lvl="0" algn="l" defTabSz="2000250" rtl="0">
            <a:lnSpc>
              <a:spcPct val="90000"/>
            </a:lnSpc>
            <a:spcBef>
              <a:spcPct val="0"/>
            </a:spcBef>
            <a:spcAft>
              <a:spcPct val="35000"/>
            </a:spcAft>
          </a:pPr>
          <a:r>
            <a:rPr lang="fr-FR" sz="4500" b="1" kern="1200" dirty="0">
              <a:latin typeface="Tw Cen MT" panose="020B0602020104020603" pitchFamily="34" charset="0"/>
            </a:rPr>
            <a:t>I. </a:t>
          </a:r>
          <a:r>
            <a:rPr lang="fr-FR" sz="4500" b="1" kern="1200" dirty="0" smtClean="0">
              <a:latin typeface="Tw Cen MT" panose="020B0602020104020603" pitchFamily="34" charset="0"/>
              <a:cs typeface="Times New Roman" panose="02020603050405020304" pitchFamily="18" charset="0"/>
            </a:rPr>
            <a:t>MODIFICATIONS </a:t>
          </a:r>
          <a:r>
            <a:rPr lang="fr-FR" sz="4500" b="1" kern="1200" dirty="0">
              <a:latin typeface="Tw Cen MT" panose="020B0602020104020603" pitchFamily="34" charset="0"/>
              <a:cs typeface="Times New Roman" panose="02020603050405020304" pitchFamily="18" charset="0"/>
            </a:rPr>
            <a:t>DU CGI &amp; </a:t>
          </a:r>
          <a:r>
            <a:rPr lang="fr-FR" sz="4500" b="1" kern="1200" dirty="0" smtClean="0">
              <a:latin typeface="Tw Cen MT" panose="020B0602020104020603" pitchFamily="34" charset="0"/>
              <a:cs typeface="Times New Roman" panose="02020603050405020304" pitchFamily="18" charset="0"/>
            </a:rPr>
            <a:t>LPF ET DU CDN </a:t>
          </a:r>
          <a:r>
            <a:rPr lang="fr-FR" sz="4500" b="1" kern="1200" dirty="0">
              <a:latin typeface="Tw Cen MT" panose="020B0602020104020603" pitchFamily="34" charset="0"/>
              <a:cs typeface="Times New Roman" panose="02020603050405020304" pitchFamily="18" charset="0"/>
            </a:rPr>
            <a:t>PAR LA LOI DE  FINANCES EXERCICE </a:t>
          </a:r>
          <a:r>
            <a:rPr lang="fr-FR" sz="4500" b="1" kern="1200" dirty="0" smtClean="0">
              <a:latin typeface="Tw Cen MT" panose="020B0602020104020603" pitchFamily="34" charset="0"/>
              <a:cs typeface="Times New Roman" panose="02020603050405020304" pitchFamily="18" charset="0"/>
            </a:rPr>
            <a:t>2023</a:t>
          </a:r>
          <a:endParaRPr lang="fr-FR" sz="4500" kern="1200" dirty="0">
            <a:latin typeface="Tw Cen MT" panose="020B0602020104020603" pitchFamily="34" charset="0"/>
          </a:endParaRPr>
        </a:p>
      </dsp:txBody>
      <dsp:txXfrm>
        <a:off x="110517" y="125721"/>
        <a:ext cx="9592336" cy="2042916"/>
      </dsp:txXfrm>
    </dsp:sp>
    <dsp:sp modelId="{A1E68AA3-C044-4801-A607-A215F0BE67D7}">
      <dsp:nvSpPr>
        <dsp:cNvPr id="0" name=""/>
        <dsp:cNvSpPr/>
      </dsp:nvSpPr>
      <dsp:spPr>
        <a:xfrm>
          <a:off x="0" y="2408754"/>
          <a:ext cx="9813370" cy="226395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lvl="0" algn="l" defTabSz="2000250" rtl="0">
            <a:lnSpc>
              <a:spcPct val="90000"/>
            </a:lnSpc>
            <a:spcBef>
              <a:spcPct val="0"/>
            </a:spcBef>
            <a:spcAft>
              <a:spcPct val="35000"/>
            </a:spcAft>
          </a:pPr>
          <a:r>
            <a:rPr lang="fr-FR" sz="4500" b="1" kern="1200" dirty="0">
              <a:latin typeface="Tw Cen MT" panose="020B0602020104020603" pitchFamily="34" charset="0"/>
            </a:rPr>
            <a:t>II. </a:t>
          </a:r>
          <a:r>
            <a:rPr lang="fr-FR" sz="4500" b="1" kern="1200" dirty="0">
              <a:latin typeface="Tw Cen MT" panose="020B0602020104020603" pitchFamily="34" charset="0"/>
              <a:cs typeface="Times New Roman" panose="02020603050405020304" pitchFamily="18" charset="0"/>
            </a:rPr>
            <a:t>MESURES SPECIFIQUES</a:t>
          </a:r>
          <a:endParaRPr lang="fr-FR" sz="4500" b="1" kern="1200" dirty="0">
            <a:latin typeface="Tw Cen MT" panose="020B0602020104020603" pitchFamily="34" charset="0"/>
          </a:endParaRPr>
        </a:p>
      </dsp:txBody>
      <dsp:txXfrm>
        <a:off x="110517" y="2519271"/>
        <a:ext cx="9592336" cy="20429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2945659" cy="498135"/>
          </a:xfrm>
          <a:prstGeom prst="rect">
            <a:avLst/>
          </a:prstGeom>
        </p:spPr>
        <p:txBody>
          <a:bodyPr vert="horz" lIns="91440" tIns="45720" rIns="91440" bIns="45720" rtlCol="0"/>
          <a:lstStyle>
            <a:lvl1pPr algn="l">
              <a:defRPr sz="1200"/>
            </a:lvl1pPr>
          </a:lstStyle>
          <a:p>
            <a:endParaRPr lang="fr-TG"/>
          </a:p>
        </p:txBody>
      </p:sp>
      <p:sp>
        <p:nvSpPr>
          <p:cNvPr id="3" name="Espace réservé de la date 2"/>
          <p:cNvSpPr>
            <a:spLocks noGrp="1"/>
          </p:cNvSpPr>
          <p:nvPr>
            <p:ph type="dt" idx="1"/>
          </p:nvPr>
        </p:nvSpPr>
        <p:spPr>
          <a:xfrm>
            <a:off x="3850444" y="1"/>
            <a:ext cx="2945659" cy="498135"/>
          </a:xfrm>
          <a:prstGeom prst="rect">
            <a:avLst/>
          </a:prstGeom>
        </p:spPr>
        <p:txBody>
          <a:bodyPr vert="horz" lIns="91440" tIns="45720" rIns="91440" bIns="45720" rtlCol="0"/>
          <a:lstStyle>
            <a:lvl1pPr algn="r">
              <a:defRPr sz="1200"/>
            </a:lvl1pPr>
          </a:lstStyle>
          <a:p>
            <a:fld id="{35FF2F60-DC5C-834F-B067-0BFD3F198A39}" type="datetimeFigureOut">
              <a:rPr lang="fr-TG" smtClean="0"/>
              <a:t>01/11/2023</a:t>
            </a:fld>
            <a:endParaRPr lang="fr-TG"/>
          </a:p>
        </p:txBody>
      </p:sp>
      <p:sp>
        <p:nvSpPr>
          <p:cNvPr id="4" name="Espace réservé de l'image des diapositives 3"/>
          <p:cNvSpPr>
            <a:spLocks noGrp="1" noRot="1" noChangeAspect="1"/>
          </p:cNvSpPr>
          <p:nvPr>
            <p:ph type="sldImg" idx="2"/>
          </p:nvPr>
        </p:nvSpPr>
        <p:spPr>
          <a:xfrm>
            <a:off x="419100" y="1239838"/>
            <a:ext cx="5959475" cy="3352800"/>
          </a:xfrm>
          <a:prstGeom prst="rect">
            <a:avLst/>
          </a:prstGeom>
          <a:noFill/>
          <a:ln w="12700">
            <a:solidFill>
              <a:prstClr val="black"/>
            </a:solidFill>
          </a:ln>
        </p:spPr>
        <p:txBody>
          <a:bodyPr vert="horz" lIns="91440" tIns="45720" rIns="91440" bIns="45720" rtlCol="0" anchor="ctr"/>
          <a:lstStyle/>
          <a:p>
            <a:endParaRPr lang="fr-TG"/>
          </a:p>
        </p:txBody>
      </p:sp>
      <p:sp>
        <p:nvSpPr>
          <p:cNvPr id="5" name="Espace réservé des not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pied de page 5"/>
          <p:cNvSpPr>
            <a:spLocks noGrp="1"/>
          </p:cNvSpPr>
          <p:nvPr>
            <p:ph type="ftr" sz="quarter" idx="4"/>
          </p:nvPr>
        </p:nvSpPr>
        <p:spPr>
          <a:xfrm>
            <a:off x="1" y="9430091"/>
            <a:ext cx="2945659" cy="498134"/>
          </a:xfrm>
          <a:prstGeom prst="rect">
            <a:avLst/>
          </a:prstGeom>
        </p:spPr>
        <p:txBody>
          <a:bodyPr vert="horz" lIns="91440" tIns="45720" rIns="91440" bIns="45720" rtlCol="0" anchor="b"/>
          <a:lstStyle>
            <a:lvl1pPr algn="l">
              <a:defRPr sz="1200"/>
            </a:lvl1pPr>
          </a:lstStyle>
          <a:p>
            <a:endParaRPr lang="fr-TG"/>
          </a:p>
        </p:txBody>
      </p:sp>
      <p:sp>
        <p:nvSpPr>
          <p:cNvPr id="7" name="Espace réservé du numéro de diapositive 6"/>
          <p:cNvSpPr>
            <a:spLocks noGrp="1"/>
          </p:cNvSpPr>
          <p:nvPr>
            <p:ph type="sldNum" sz="quarter" idx="5"/>
          </p:nvPr>
        </p:nvSpPr>
        <p:spPr>
          <a:xfrm>
            <a:off x="3850444" y="9430091"/>
            <a:ext cx="2945659" cy="498134"/>
          </a:xfrm>
          <a:prstGeom prst="rect">
            <a:avLst/>
          </a:prstGeom>
        </p:spPr>
        <p:txBody>
          <a:bodyPr vert="horz" lIns="91440" tIns="45720" rIns="91440" bIns="45720" rtlCol="0" anchor="b"/>
          <a:lstStyle>
            <a:lvl1pPr algn="r">
              <a:defRPr sz="1200"/>
            </a:lvl1pPr>
          </a:lstStyle>
          <a:p>
            <a:fld id="{AABA70A4-CC60-334F-8B3B-914DE887499A}" type="slidenum">
              <a:rPr lang="fr-TG" smtClean="0"/>
              <a:t>‹N°›</a:t>
            </a:fld>
            <a:endParaRPr lang="fr-TG"/>
          </a:p>
        </p:txBody>
      </p:sp>
    </p:spTree>
    <p:extLst>
      <p:ext uri="{BB962C8B-B14F-4D97-AF65-F5344CB8AC3E}">
        <p14:creationId xmlns:p14="http://schemas.microsoft.com/office/powerpoint/2010/main" val="1716713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a:t>
            </a:fld>
            <a:endParaRPr lang="fr-TG"/>
          </a:p>
        </p:txBody>
      </p:sp>
    </p:spTree>
    <p:extLst>
      <p:ext uri="{BB962C8B-B14F-4D97-AF65-F5344CB8AC3E}">
        <p14:creationId xmlns:p14="http://schemas.microsoft.com/office/powerpoint/2010/main" val="3032027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3</a:t>
            </a:fld>
            <a:endParaRPr lang="fr-TG"/>
          </a:p>
        </p:txBody>
      </p:sp>
    </p:spTree>
    <p:extLst>
      <p:ext uri="{BB962C8B-B14F-4D97-AF65-F5344CB8AC3E}">
        <p14:creationId xmlns:p14="http://schemas.microsoft.com/office/powerpoint/2010/main" val="1470030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4</a:t>
            </a:fld>
            <a:endParaRPr lang="fr-TG"/>
          </a:p>
        </p:txBody>
      </p:sp>
    </p:spTree>
    <p:extLst>
      <p:ext uri="{BB962C8B-B14F-4D97-AF65-F5344CB8AC3E}">
        <p14:creationId xmlns:p14="http://schemas.microsoft.com/office/powerpoint/2010/main" val="1804073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dirty="0">
                <a:solidFill>
                  <a:schemeClr val="tx2">
                    <a:lumMod val="50000"/>
                  </a:schemeClr>
                </a:solidFill>
              </a:rPr>
              <a:t>Au titre des dispositions applicables à la détermination de la base imposable aux revenus fonciers, la loi fiscale a institué un abattement forfaitaire systématique de 50% sur le revenu brut foncier abstraction faite des charges réelles de propriété pour le calcul de l'impôt sur le revenu foncier. Cependant, il arrive que les charges réellement supportées par le propriétaire soient supérieures à 50% du revenu foncier.</a:t>
            </a:r>
            <a:r>
              <a:rPr lang="fr-FR" sz="1200" b="1" baseline="0" dirty="0">
                <a:solidFill>
                  <a:schemeClr val="tx2">
                    <a:lumMod val="50000"/>
                  </a:schemeClr>
                </a:solidFill>
              </a:rPr>
              <a:t> Pour pallier cette situation, </a:t>
            </a:r>
            <a:r>
              <a:rPr lang="fr-FR" sz="1200" b="1" baseline="0" dirty="0">
                <a:solidFill>
                  <a:srgbClr val="FF0000"/>
                </a:solidFill>
              </a:rPr>
              <a:t>l</a:t>
            </a:r>
            <a:r>
              <a:rPr lang="fr-FR" sz="1200" b="1" dirty="0" smtClean="0">
                <a:solidFill>
                  <a:schemeClr val="tx2">
                    <a:lumMod val="50000"/>
                  </a:schemeClr>
                </a:solidFill>
              </a:rPr>
              <a:t>a </a:t>
            </a:r>
            <a:r>
              <a:rPr lang="fr-FR" sz="1200" b="1" dirty="0">
                <a:solidFill>
                  <a:schemeClr val="tx2">
                    <a:lumMod val="50000"/>
                  </a:schemeClr>
                </a:solidFill>
              </a:rPr>
              <a:t>loi donne désormais la possibilité au contribuable qui souhaite être imposé sur la base des frais réels d’introduire une demande auprès de l'administration fiscale pour être taxé sur la base des justificatifs apportés dans des conditions légales. </a:t>
            </a:r>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5</a:t>
            </a:fld>
            <a:endParaRPr lang="fr-TG"/>
          </a:p>
        </p:txBody>
      </p:sp>
    </p:spTree>
    <p:extLst>
      <p:ext uri="{BB962C8B-B14F-4D97-AF65-F5344CB8AC3E}">
        <p14:creationId xmlns:p14="http://schemas.microsoft.com/office/powerpoint/2010/main" val="790002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4561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7</a:t>
            </a:fld>
            <a:endParaRPr lang="fr-TG"/>
          </a:p>
        </p:txBody>
      </p:sp>
    </p:spTree>
    <p:extLst>
      <p:ext uri="{BB962C8B-B14F-4D97-AF65-F5344CB8AC3E}">
        <p14:creationId xmlns:p14="http://schemas.microsoft.com/office/powerpoint/2010/main" val="1216208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kern="1200" dirty="0">
                <a:solidFill>
                  <a:schemeClr val="tx1"/>
                </a:solidFill>
                <a:effectLst/>
                <a:latin typeface="+mn-lt"/>
                <a:ea typeface="+mn-ea"/>
                <a:cs typeface="+mn-cs"/>
              </a:rPr>
              <a:t>Relativement aux dispositions applicables au type de référence pour la déductibilité des amortissements des véhicules de tourisme acquis par les entreprises, la loi fiscale prévoit la non-déductibilité des amortissements de ces véhicules pour le tiers (1/3) correspondant à un usage réputé non professionnel. Dans le principe, la limitation d’une charge calculée vise à réduire les dépenses somptuaires des entreprises. </a:t>
            </a:r>
            <a:endParaRPr lang="fr-FR" b="1" dirty="0">
              <a:effectLst/>
            </a:endParaRPr>
          </a:p>
          <a:p>
            <a:pPr algn="just"/>
            <a:r>
              <a:rPr lang="fr-FR" sz="1200" b="1" kern="1200" dirty="0">
                <a:solidFill>
                  <a:schemeClr val="tx1"/>
                </a:solidFill>
                <a:effectLst/>
                <a:latin typeface="+mn-lt"/>
                <a:ea typeface="+mn-ea"/>
                <a:cs typeface="+mn-cs"/>
              </a:rPr>
              <a:t>Dans le souci non seulement d’apporter une solution à cette préoccupation mais aussi de concilier la possibilité pour les entreprises de se doter des véhicules de bonne qualité et la politique du gouvernement relative à la lutte contre la pollution et au renouvellement du parc automobile, il a été introduit une déductibilité totale de l’amortissement avec limitation de la valeur d’acquisition à 20 millions Toutes Taxes Comprises. </a:t>
            </a:r>
            <a:endParaRPr lang="fr-FR" b="1" dirty="0">
              <a:effectLst/>
            </a:endParaRPr>
          </a:p>
          <a:p>
            <a:pPr algn="just"/>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8</a:t>
            </a:fld>
            <a:endParaRPr lang="fr-TG"/>
          </a:p>
        </p:txBody>
      </p:sp>
    </p:spTree>
    <p:extLst>
      <p:ext uri="{BB962C8B-B14F-4D97-AF65-F5344CB8AC3E}">
        <p14:creationId xmlns:p14="http://schemas.microsoft.com/office/powerpoint/2010/main" val="3614565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44546A">
                    <a:lumMod val="50000"/>
                  </a:srgbClr>
                </a:solidFill>
                <a:effectLst/>
                <a:uLnTx/>
                <a:uFillTx/>
                <a:latin typeface="+mn-lt"/>
                <a:ea typeface="+mn-ea"/>
                <a:cs typeface="+mn-cs"/>
              </a:rPr>
              <a:t>La loi n°2021-012 du 18 juin 2021 portant nouveau code du travail en ses articles 230 et suivants, oblige tout employeur à souscrire au profit de ses travailleurs un contrat d’assurance couvrant les risques liés à la maladie et aux accidents non professionnels.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800" b="1" i="0" u="none" strike="noStrike" kern="1200" cap="none" spc="0" normalizeH="0" baseline="0" noProof="0" dirty="0">
              <a:ln>
                <a:noFill/>
              </a:ln>
              <a:solidFill>
                <a:srgbClr val="44546A">
                  <a:lumMod val="50000"/>
                </a:srgbClr>
              </a:solidFill>
              <a:effectLst/>
              <a:uLnTx/>
              <a:uFillTx/>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44546A">
                    <a:lumMod val="50000"/>
                  </a:srgbClr>
                </a:solidFill>
                <a:effectLst/>
                <a:uLnTx/>
                <a:uFillTx/>
                <a:latin typeface="+mn-lt"/>
                <a:ea typeface="+mn-ea"/>
                <a:cs typeface="+mn-cs"/>
              </a:rPr>
              <a:t>L’amendement de cet article permet le rejet de la déductibilité de la prime d’assurance versée au profit </a:t>
            </a:r>
            <a:r>
              <a:rPr kumimoji="0" lang="fr-FR" sz="1200" b="1" i="0" u="sng" strike="noStrike" kern="1200" cap="none" spc="0" normalizeH="0" baseline="0" noProof="0" dirty="0">
                <a:ln>
                  <a:noFill/>
                </a:ln>
                <a:solidFill>
                  <a:srgbClr val="44546A">
                    <a:lumMod val="50000"/>
                  </a:srgbClr>
                </a:solidFill>
                <a:effectLst/>
                <a:uLnTx/>
                <a:uFillTx/>
                <a:latin typeface="+mn-lt"/>
                <a:ea typeface="+mn-ea"/>
                <a:cs typeface="+mn-cs"/>
              </a:rPr>
              <a:t>du ou des seuls dirigeants</a:t>
            </a:r>
            <a:r>
              <a:rPr kumimoji="0" lang="fr-FR" sz="1200" b="1" i="0" u="none" strike="noStrike" kern="1200" cap="none" spc="0" normalizeH="0" baseline="0" noProof="0" dirty="0">
                <a:ln>
                  <a:noFill/>
                </a:ln>
                <a:solidFill>
                  <a:srgbClr val="44546A">
                    <a:lumMod val="50000"/>
                  </a:srgbClr>
                </a:solidFill>
                <a:effectLst/>
                <a:uLnTx/>
                <a:uFillTx/>
                <a:latin typeface="+mn-lt"/>
                <a:ea typeface="+mn-ea"/>
                <a:cs typeface="+mn-cs"/>
              </a:rPr>
              <a:t> de sociétés au détriment de tout le personnel salarié conformément à la loi susvisée.</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933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kern="1200" dirty="0">
                <a:solidFill>
                  <a:schemeClr val="tx1"/>
                </a:solidFill>
                <a:effectLst/>
                <a:latin typeface="+mn-lt"/>
                <a:ea typeface="+mn-ea"/>
                <a:cs typeface="+mn-cs"/>
              </a:rPr>
              <a:t>Au titre des dispositions applicables à la suspension sous certaines conditions des acomptes provisionnels liés à l’impôt sur le résultat dans le cadre du paiement anticipé des impôts sur le revenu, la loi a prévu le paiement de quatre (04) acomptes provisionnels qui doit être régularisé au moment de la déclaration du résultat. Cependant, certains contribuables peuvent être confrontés à un trop perçu compte tenu de la tendance du chiffre d’affaires. </a:t>
            </a:r>
            <a:endParaRPr lang="fr-FR" b="1" dirty="0">
              <a:effectLst/>
            </a:endParaRPr>
          </a:p>
          <a:p>
            <a:r>
              <a:rPr lang="fr-FR" sz="1200" b="1" kern="1200" dirty="0">
                <a:solidFill>
                  <a:schemeClr val="tx1"/>
                </a:solidFill>
                <a:effectLst/>
                <a:latin typeface="+mn-lt"/>
                <a:ea typeface="+mn-ea"/>
                <a:cs typeface="+mn-cs"/>
              </a:rPr>
              <a:t>La réforme vise donc à soutenir la trésorerie des entreprises face à leur capacité d’investissement en leur permettant d’introduire une demande de suspension de paiement des acomptes dans les conditions définies par la loi. </a:t>
            </a:r>
            <a:endParaRPr lang="fr-FR" b="1" dirty="0">
              <a:effectLst/>
            </a:endParaRP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10</a:t>
            </a:fld>
            <a:endParaRPr lang="fr-TG"/>
          </a:p>
        </p:txBody>
      </p:sp>
    </p:spTree>
    <p:extLst>
      <p:ext uri="{BB962C8B-B14F-4D97-AF65-F5344CB8AC3E}">
        <p14:creationId xmlns:p14="http://schemas.microsoft.com/office/powerpoint/2010/main" val="1742357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dirty="0">
                <a:solidFill>
                  <a:schemeClr val="tx2">
                    <a:lumMod val="50000"/>
                  </a:schemeClr>
                </a:solidFill>
              </a:rPr>
              <a:t>Les dispositions fiscales actuelles relatives aux prix de transfert ont été modifiées dans l’optique de les conformer aux principes directeurs de l’OCDE. Il s’agit notamment de revoir le seuil des transactions à déclarer dans le cadre des obligations déclaratives et de la documentation détaillée que doivent fournir les entreprises liées assujetties à cette obligation. Ainsi:</a:t>
            </a:r>
            <a:endParaRPr lang="fr-FR" sz="900" b="1" dirty="0">
              <a:solidFill>
                <a:schemeClr val="tx2">
                  <a:lumMod val="50000"/>
                </a:schemeClr>
              </a:solidFill>
            </a:endParaRPr>
          </a:p>
          <a:p>
            <a:pPr indent="-285750" algn="just">
              <a:buFontTx/>
              <a:buChar char="-"/>
            </a:pPr>
            <a:r>
              <a:rPr lang="fr-FR" sz="1200" b="1" dirty="0">
                <a:solidFill>
                  <a:schemeClr val="tx2">
                    <a:lumMod val="50000"/>
                  </a:schemeClr>
                </a:solidFill>
              </a:rPr>
              <a:t>l’article 104 pose le principe de pleine concurrence pour toutes les transactions et définit les critères des entreprises liées ;</a:t>
            </a:r>
            <a:endParaRPr lang="fr-FR" sz="800" b="1" dirty="0">
              <a:solidFill>
                <a:schemeClr val="tx2">
                  <a:lumMod val="50000"/>
                </a:schemeClr>
              </a:solidFill>
            </a:endParaRPr>
          </a:p>
          <a:p>
            <a:pPr indent="-285750" algn="just">
              <a:buFontTx/>
              <a:buChar char="-"/>
            </a:pPr>
            <a:r>
              <a:rPr lang="fr-FR" sz="1200" b="1" dirty="0">
                <a:solidFill>
                  <a:schemeClr val="tx2">
                    <a:lumMod val="50000"/>
                  </a:schemeClr>
                </a:solidFill>
              </a:rPr>
              <a:t>l’article 105 crée une obligation de déclaration annuelle des prix de transfert pour les entreprises disposant d’un actif brut supérieur ou égal à 500.000.000</a:t>
            </a:r>
            <a:r>
              <a:rPr lang="fr-FR" sz="1200" b="1" baseline="0" dirty="0">
                <a:solidFill>
                  <a:schemeClr val="tx2">
                    <a:lumMod val="50000"/>
                  </a:schemeClr>
                </a:solidFill>
              </a:rPr>
              <a:t> </a:t>
            </a:r>
            <a:r>
              <a:rPr lang="fr-FR" sz="1200" b="1" baseline="0" dirty="0" err="1" smtClean="0">
                <a:solidFill>
                  <a:schemeClr val="tx2">
                    <a:lumMod val="50000"/>
                  </a:schemeClr>
                </a:solidFill>
              </a:rPr>
              <a:t>f</a:t>
            </a:r>
            <a:r>
              <a:rPr lang="fr-FR" sz="1200" b="1" dirty="0" err="1" smtClean="0">
                <a:solidFill>
                  <a:schemeClr val="tx2">
                    <a:lumMod val="50000"/>
                  </a:schemeClr>
                </a:solidFill>
              </a:rPr>
              <a:t>CFA</a:t>
            </a:r>
            <a:r>
              <a:rPr lang="fr-FR" sz="1200" b="1" dirty="0" smtClean="0">
                <a:solidFill>
                  <a:schemeClr val="tx2">
                    <a:lumMod val="50000"/>
                  </a:schemeClr>
                </a:solidFill>
              </a:rPr>
              <a:t> </a:t>
            </a:r>
            <a:r>
              <a:rPr lang="fr-FR" sz="1200" b="1" dirty="0">
                <a:solidFill>
                  <a:schemeClr val="tx2">
                    <a:lumMod val="50000"/>
                  </a:schemeClr>
                </a:solidFill>
              </a:rPr>
              <a:t>;</a:t>
            </a:r>
          </a:p>
          <a:p>
            <a:pPr indent="-285750" algn="just">
              <a:buFontTx/>
              <a:buChar char="-"/>
            </a:pPr>
            <a:r>
              <a:rPr lang="fr-FR" sz="1200" b="1" dirty="0">
                <a:solidFill>
                  <a:schemeClr val="tx2">
                    <a:lumMod val="50000"/>
                  </a:schemeClr>
                </a:solidFill>
              </a:rPr>
              <a:t>l’article 106 prévoit une obligation documentaire des prix de transfert pour les entreprises disposant d’un actif brut supérieur ou égal à</a:t>
            </a:r>
            <a:r>
              <a:rPr lang="fr-FR" sz="1200" b="1" baseline="0" dirty="0">
                <a:solidFill>
                  <a:schemeClr val="tx2">
                    <a:lumMod val="50000"/>
                  </a:schemeClr>
                </a:solidFill>
              </a:rPr>
              <a:t> </a:t>
            </a:r>
            <a:r>
              <a:rPr lang="fr-FR" sz="1200" b="1" dirty="0">
                <a:solidFill>
                  <a:schemeClr val="tx2">
                    <a:lumMod val="50000"/>
                  </a:schemeClr>
                </a:solidFill>
              </a:rPr>
              <a:t>1.000.000.000</a:t>
            </a:r>
            <a:r>
              <a:rPr lang="fr-FR" sz="1200" b="1" baseline="0" dirty="0">
                <a:solidFill>
                  <a:schemeClr val="tx2">
                    <a:lumMod val="50000"/>
                  </a:schemeClr>
                </a:solidFill>
              </a:rPr>
              <a:t> </a:t>
            </a:r>
            <a:r>
              <a:rPr lang="fr-FR" sz="1200" b="1" dirty="0">
                <a:solidFill>
                  <a:schemeClr val="tx2">
                    <a:lumMod val="50000"/>
                  </a:schemeClr>
                </a:solidFill>
              </a:rPr>
              <a:t>FCFA ;</a:t>
            </a:r>
            <a:endParaRPr lang="fr-FR" sz="800" b="1" dirty="0">
              <a:solidFill>
                <a:schemeClr val="tx2">
                  <a:lumMod val="50000"/>
                </a:schemeClr>
              </a:solidFill>
            </a:endParaRPr>
          </a:p>
          <a:p>
            <a:pPr indent="-285750" algn="just">
              <a:buFontTx/>
              <a:buChar char="-"/>
            </a:pPr>
            <a:r>
              <a:rPr lang="fr-FR" sz="1200" b="1" dirty="0">
                <a:solidFill>
                  <a:schemeClr val="tx2">
                    <a:lumMod val="50000"/>
                  </a:schemeClr>
                </a:solidFill>
              </a:rPr>
              <a:t>l’article 106 bis crée une obligation de déclaration relative  à la documentation pays par pays ;</a:t>
            </a:r>
            <a:endParaRPr lang="fr-FR" sz="800" b="1" dirty="0">
              <a:solidFill>
                <a:schemeClr val="tx2">
                  <a:lumMod val="50000"/>
                </a:schemeClr>
              </a:solidFill>
            </a:endParaRPr>
          </a:p>
          <a:p>
            <a:pPr lvl="0" indent="-285750" algn="just">
              <a:buFontTx/>
              <a:buChar char="-"/>
            </a:pPr>
            <a:r>
              <a:rPr lang="fr-FR" sz="1200" b="1" dirty="0">
                <a:solidFill>
                  <a:schemeClr val="tx2">
                    <a:lumMod val="50000"/>
                  </a:schemeClr>
                </a:solidFill>
              </a:rPr>
              <a:t>l’article 106 ter prévoit une obligation documentaire pour l’entreprise vérifiée dont la pratique des prix de transfert a été constatée lors du contrôle.</a:t>
            </a:r>
          </a:p>
          <a:p>
            <a:pPr indent="-285750" algn="just">
              <a:buFontTx/>
              <a:buChar char="-"/>
            </a:pPr>
            <a:endParaRPr lang="fr-FR" sz="1200" b="1" dirty="0">
              <a:solidFill>
                <a:schemeClr val="tx2">
                  <a:lumMod val="50000"/>
                </a:schemeClr>
              </a:solidFill>
            </a:endParaRP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11</a:t>
            </a:fld>
            <a:endParaRPr lang="fr-TG"/>
          </a:p>
        </p:txBody>
      </p:sp>
    </p:spTree>
    <p:extLst>
      <p:ext uri="{BB962C8B-B14F-4D97-AF65-F5344CB8AC3E}">
        <p14:creationId xmlns:p14="http://schemas.microsoft.com/office/powerpoint/2010/main" val="1408933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sz="800" b="1" dirty="0">
              <a:solidFill>
                <a:schemeClr val="tx2">
                  <a:lumMod val="50000"/>
                </a:schemeClr>
              </a:solidFill>
            </a:endParaRPr>
          </a:p>
          <a:p>
            <a:pPr algn="just"/>
            <a:r>
              <a:rPr lang="fr-FR" sz="1200" b="1" dirty="0">
                <a:solidFill>
                  <a:schemeClr val="tx2">
                    <a:lumMod val="50000"/>
                  </a:schemeClr>
                </a:solidFill>
              </a:rPr>
              <a:t>Cet article prévoit l’obligation de déclaration pour tout redevable assujetti à la TVA auprès des services des impôts au plus tard le 15 de chaque mois.</a:t>
            </a:r>
            <a:endParaRPr lang="fr-FR" sz="800" b="1" dirty="0">
              <a:solidFill>
                <a:schemeClr val="tx2">
                  <a:lumMod val="50000"/>
                </a:schemeClr>
              </a:solidFill>
            </a:endParaRPr>
          </a:p>
          <a:p>
            <a:pPr algn="just"/>
            <a:r>
              <a:rPr lang="fr-FR" sz="1200" b="1" dirty="0">
                <a:solidFill>
                  <a:schemeClr val="tx2">
                    <a:lumMod val="50000"/>
                  </a:schemeClr>
                </a:solidFill>
              </a:rPr>
              <a:t>En lien avec l’assujettissement à la TVA des prestations électroniques, le parlement met l’accent sur l’obligation des </a:t>
            </a:r>
            <a:r>
              <a:rPr lang="fr-FR" sz="1200" b="1" dirty="0" smtClean="0">
                <a:solidFill>
                  <a:schemeClr val="tx2">
                    <a:lumMod val="50000"/>
                  </a:schemeClr>
                </a:solidFill>
              </a:rPr>
              <a:t>opérateurs </a:t>
            </a:r>
            <a:r>
              <a:rPr lang="fr-FR" sz="1200" b="1" dirty="0">
                <a:solidFill>
                  <a:schemeClr val="tx2">
                    <a:lumMod val="50000"/>
                  </a:schemeClr>
                </a:solidFill>
              </a:rPr>
              <a:t>des plateformes électroniques ou de commerce en ligne étrangères ou locales de souscrire à leurs déclarations dans les délais légaux. </a:t>
            </a: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12</a:t>
            </a:fld>
            <a:endParaRPr lang="fr-TG"/>
          </a:p>
        </p:txBody>
      </p:sp>
    </p:spTree>
    <p:extLst>
      <p:ext uri="{BB962C8B-B14F-4D97-AF65-F5344CB8AC3E}">
        <p14:creationId xmlns:p14="http://schemas.microsoft.com/office/powerpoint/2010/main" val="1136571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sz="800" b="1" dirty="0">
              <a:solidFill>
                <a:schemeClr val="tx2">
                  <a:lumMod val="50000"/>
                </a:schemeClr>
              </a:solidFill>
            </a:endParaRPr>
          </a:p>
          <a:p>
            <a:pPr algn="just"/>
            <a:r>
              <a:rPr lang="fr-FR" sz="1200" b="1" dirty="0">
                <a:solidFill>
                  <a:schemeClr val="tx2">
                    <a:lumMod val="50000"/>
                  </a:schemeClr>
                </a:solidFill>
              </a:rPr>
              <a:t>La formalité d’enregistrement est dorénavant étendue à toutes les sentences arbitrales exécutées au Togo qu’elles soient revêtues ou non de l’exéquatur. Ceci permet que les sentences arbitrales, même non revêtue de l’exequatur, soient opposables aux tiers. La soumission de ce type d’acte à la formalité d’enregistrement abouti à  un élargissement de l’assiette fiscale sur les actes en cause.</a:t>
            </a: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13</a:t>
            </a:fld>
            <a:endParaRPr lang="fr-TG"/>
          </a:p>
        </p:txBody>
      </p:sp>
    </p:spTree>
    <p:extLst>
      <p:ext uri="{BB962C8B-B14F-4D97-AF65-F5344CB8AC3E}">
        <p14:creationId xmlns:p14="http://schemas.microsoft.com/office/powerpoint/2010/main" val="2888313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kern="1200" dirty="0">
                <a:solidFill>
                  <a:schemeClr val="tx1"/>
                </a:solidFill>
                <a:effectLst/>
                <a:latin typeface="+mn-lt"/>
                <a:ea typeface="+mn-ea"/>
                <a:cs typeface="+mn-cs"/>
              </a:rPr>
              <a:t>Cette réforme a trait aux dispositions applicables à la déductibilité des charges patronales relatives à l’assurance maladie. En effet, la réforme du nouveau Code Général des Impôts (CGI) n’a suffisamment pas clarifié la déductibilité ou non des primes d’assurance maladie à la charge de l’employeur de la base de l’impôt sur le résultat.</a:t>
            </a:r>
            <a:endParaRPr lang="fr-FR" b="1" dirty="0">
              <a:solidFill>
                <a:schemeClr val="tx1"/>
              </a:solidFill>
              <a:effectLst/>
            </a:endParaRPr>
          </a:p>
          <a:p>
            <a:pPr algn="just"/>
            <a:r>
              <a:rPr lang="fr-FR" sz="1200" b="1" kern="1200" dirty="0">
                <a:solidFill>
                  <a:schemeClr val="tx1"/>
                </a:solidFill>
                <a:effectLst/>
                <a:latin typeface="+mn-lt"/>
                <a:ea typeface="+mn-ea"/>
                <a:cs typeface="+mn-cs"/>
              </a:rPr>
              <a:t>Pour répondre aux enjeux prioritaires du Gouvernement rendant l’assurance maladie universelle obligatoire avec l’adoption du nouveau code du travail, il serait injustifié que la politique fiscale n’admette pas en charge déductible de l’impôt sur le résultat, les cotisations d’assurance maladie au profit du personnel de l’entreprise.</a:t>
            </a:r>
            <a:endParaRPr lang="fr-FR" b="1" dirty="0">
              <a:solidFill>
                <a:schemeClr val="tx1"/>
              </a:solidFill>
              <a:effectLst/>
            </a:endParaRPr>
          </a:p>
          <a:p>
            <a:pPr algn="just"/>
            <a:r>
              <a:rPr lang="fr-FR" sz="1200" b="1" kern="1200" dirty="0">
                <a:solidFill>
                  <a:schemeClr val="tx1"/>
                </a:solidFill>
                <a:effectLst/>
                <a:latin typeface="+mn-lt"/>
                <a:ea typeface="+mn-ea"/>
                <a:cs typeface="+mn-cs"/>
              </a:rPr>
              <a:t>La réforme vise donc à introduire expressément un alinéa sur la déductibilité des primes d’assurance maladie souscrite au profit de l’ensemble du personnel de l’entreprise et supportées par l’employeur</a:t>
            </a:r>
            <a:r>
              <a:rPr lang="fr-FR" sz="1200" kern="1200" dirty="0">
                <a:solidFill>
                  <a:schemeClr val="tx1"/>
                </a:solidFill>
                <a:effectLst/>
                <a:latin typeface="+mn-lt"/>
                <a:ea typeface="+mn-ea"/>
                <a:cs typeface="+mn-cs"/>
              </a:rPr>
              <a:t>.</a:t>
            </a:r>
            <a:endParaRPr lang="fr-FR" dirty="0">
              <a:effectLst/>
            </a:endParaRP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14</a:t>
            </a:fld>
            <a:endParaRPr lang="fr-TG"/>
          </a:p>
        </p:txBody>
      </p:sp>
    </p:spTree>
    <p:extLst>
      <p:ext uri="{BB962C8B-B14F-4D97-AF65-F5344CB8AC3E}">
        <p14:creationId xmlns:p14="http://schemas.microsoft.com/office/powerpoint/2010/main" val="3669447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dirty="0">
                <a:solidFill>
                  <a:schemeClr val="tx2">
                    <a:lumMod val="50000"/>
                  </a:schemeClr>
                </a:solidFill>
              </a:rPr>
              <a:t>Dans l’optique de soutenir les mesures de lutte contre la vie chère et le rehaussement du pouvoir d’achat des populations, le législateur a procédé à une modification du barème de l’IRPP.</a:t>
            </a:r>
            <a:endParaRPr lang="fr-FR" sz="800" b="1" dirty="0">
              <a:solidFill>
                <a:schemeClr val="tx2">
                  <a:lumMod val="50000"/>
                </a:schemeClr>
              </a:solidFill>
            </a:endParaRPr>
          </a:p>
          <a:p>
            <a:pPr algn="just"/>
            <a:r>
              <a:rPr lang="fr-FR" sz="1200" b="1" dirty="0">
                <a:solidFill>
                  <a:schemeClr val="tx2">
                    <a:lumMod val="50000"/>
                  </a:schemeClr>
                </a:solidFill>
              </a:rPr>
              <a:t>Ainsi, les revenus inférieurs à neuf-cent mille (900.000) de francs CFA sont exonérés et ceux supérieurs à vingt millions (20.000.000) de francs CFA sont taxés à 35%.</a:t>
            </a: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15</a:t>
            </a:fld>
            <a:endParaRPr lang="fr-TG"/>
          </a:p>
        </p:txBody>
      </p:sp>
    </p:spTree>
    <p:extLst>
      <p:ext uri="{BB962C8B-B14F-4D97-AF65-F5344CB8AC3E}">
        <p14:creationId xmlns:p14="http://schemas.microsoft.com/office/powerpoint/2010/main" val="2491487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sz="800" b="1" dirty="0">
              <a:solidFill>
                <a:schemeClr val="tx2">
                  <a:lumMod val="50000"/>
                </a:schemeClr>
              </a:solidFill>
            </a:endParaRPr>
          </a:p>
          <a:p>
            <a:pPr algn="just"/>
            <a:r>
              <a:rPr lang="fr-FR" sz="1200" b="1" dirty="0">
                <a:solidFill>
                  <a:schemeClr val="tx2">
                    <a:lumMod val="50000"/>
                  </a:schemeClr>
                </a:solidFill>
              </a:rPr>
              <a:t>Le taux de droit d’accise sur le tabac passe de 50 à 100%. Le Togo sera ainsi en harmonie avec les autres pays de la sous-région et découragera dans le même temps la consommation du tabac par les populations de même que le financement des réseaux criminels dans une période où la lutte contre le terrorisme et l’extrémisme violent est devenue une priorité nationale</a:t>
            </a:r>
            <a:r>
              <a:rPr lang="fr-FR" sz="1100" b="1" dirty="0">
                <a:solidFill>
                  <a:schemeClr val="tx2">
                    <a:lumMod val="50000"/>
                  </a:schemeClr>
                </a:solidFill>
              </a:rPr>
              <a:t>.</a:t>
            </a: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16</a:t>
            </a:fld>
            <a:endParaRPr lang="fr-TG"/>
          </a:p>
        </p:txBody>
      </p:sp>
    </p:spTree>
    <p:extLst>
      <p:ext uri="{BB962C8B-B14F-4D97-AF65-F5344CB8AC3E}">
        <p14:creationId xmlns:p14="http://schemas.microsoft.com/office/powerpoint/2010/main" val="1605889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dirty="0">
                <a:solidFill>
                  <a:schemeClr val="tx2">
                    <a:lumMod val="50000"/>
                  </a:schemeClr>
                </a:solidFill>
              </a:rPr>
              <a:t>Les dispositions de l’article 254 du CGI sont relatives à la liquidation de la patente.</a:t>
            </a:r>
          </a:p>
          <a:p>
            <a:pPr algn="just"/>
            <a:r>
              <a:rPr lang="fr-FR" sz="1200" b="1" dirty="0">
                <a:solidFill>
                  <a:schemeClr val="tx2">
                    <a:lumMod val="50000"/>
                  </a:schemeClr>
                </a:solidFill>
              </a:rPr>
              <a:t>Il a été constaté que les revendeurs de tissus pagnes relevant de la catégorie du commerce subissent une taxation plus lourde de la patente en raison de leur imposition de la faiblesse de marge réalisée, ce qui n’encourage plus ce secteur en proie à la concurrence actuelle.</a:t>
            </a:r>
            <a:endParaRPr lang="fr-FR" sz="800" b="1" dirty="0">
              <a:solidFill>
                <a:schemeClr val="tx2">
                  <a:lumMod val="50000"/>
                </a:schemeClr>
              </a:solidFill>
            </a:endParaRPr>
          </a:p>
          <a:p>
            <a:pPr algn="just"/>
            <a:r>
              <a:rPr lang="fr-FR" sz="1200" b="1" dirty="0">
                <a:solidFill>
                  <a:schemeClr val="tx2">
                    <a:lumMod val="50000"/>
                  </a:schemeClr>
                </a:solidFill>
              </a:rPr>
              <a:t>Afin d’alléger leur charge fiscale et rendre les prix de tissus pagnes compétitifs vis-à-vis des entreprises étrangères opérant dans le même secteur, il est, désormais, appliqué une réduction de 60% du montant de la patente des revendeurs de tissus pagnes assujettis à la TVA relevant du régime du réel normal d’imposition.</a:t>
            </a: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17</a:t>
            </a:fld>
            <a:endParaRPr lang="fr-TG"/>
          </a:p>
        </p:txBody>
      </p:sp>
    </p:spTree>
    <p:extLst>
      <p:ext uri="{BB962C8B-B14F-4D97-AF65-F5344CB8AC3E}">
        <p14:creationId xmlns:p14="http://schemas.microsoft.com/office/powerpoint/2010/main" val="3824766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a:solidFill>
                  <a:schemeClr val="tx1"/>
                </a:solidFill>
                <a:effectLst/>
                <a:latin typeface="+mn-lt"/>
                <a:ea typeface="+mn-ea"/>
                <a:cs typeface="+mn-cs"/>
              </a:rPr>
              <a:t>Dans le domaine des dispositions applicables à</a:t>
            </a:r>
            <a:r>
              <a:rPr lang="fr-FR" sz="1200" b="1" kern="1200" dirty="0">
                <a:solidFill>
                  <a:schemeClr val="tx1"/>
                </a:solidFill>
                <a:effectLst/>
                <a:latin typeface="+mn-lt"/>
                <a:ea typeface="+mn-ea"/>
                <a:cs typeface="+mn-cs"/>
              </a:rPr>
              <a:t> la procédure de régularisation et dans l’optique d’encourager le civisme fiscal</a:t>
            </a:r>
            <a:r>
              <a:rPr lang="fr-FR" sz="1200" kern="1200" dirty="0">
                <a:solidFill>
                  <a:schemeClr val="tx1"/>
                </a:solidFill>
                <a:effectLst/>
                <a:latin typeface="+mn-lt"/>
                <a:ea typeface="+mn-ea"/>
                <a:cs typeface="+mn-cs"/>
              </a:rPr>
              <a:t>, une tradition fiscale permettait aux contribuables de bonne foi de corriger les erreurs, omissions ou inexactitudes constatées à l’issue d’une procédure de contrôle fiscal sans majorations liées à une infraction d’assiette. La loi leur permettait de procéder simplement à la déclaration des écarts constatés en ne payant que des intérêts de retard sur les sommes dues.</a:t>
            </a:r>
          </a:p>
          <a:p>
            <a:r>
              <a:rPr lang="fr-FR" sz="1200" kern="1200" dirty="0">
                <a:solidFill>
                  <a:schemeClr val="tx1"/>
                </a:solidFill>
                <a:effectLst/>
                <a:latin typeface="+mn-lt"/>
                <a:ea typeface="+mn-ea"/>
                <a:cs typeface="+mn-cs"/>
              </a:rPr>
              <a:t>Afin de soutenir la politique de dialogue permanent entre l’Etat et le secteur privé dans un climat de confiance renforcé, il s’avère important de réorienter la politique fiscale en ce sens pour créer un effet « boule de neige » au sein du registre des contribuables citoyens.</a:t>
            </a:r>
          </a:p>
          <a:p>
            <a:r>
              <a:rPr lang="fr-FR" sz="1200" kern="1200" dirty="0">
                <a:solidFill>
                  <a:schemeClr val="tx1"/>
                </a:solidFill>
                <a:effectLst/>
                <a:latin typeface="+mn-lt"/>
                <a:ea typeface="+mn-ea"/>
                <a:cs typeface="+mn-cs"/>
              </a:rPr>
              <a:t>La proposition vise à intégrer dans le livre des procédures fiscales cette mesure qui est de nature à renforcer la relation de confiance entre l’administration et les contribuables.</a:t>
            </a: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18</a:t>
            </a:fld>
            <a:endParaRPr lang="fr-TG"/>
          </a:p>
        </p:txBody>
      </p:sp>
    </p:spTree>
    <p:extLst>
      <p:ext uri="{BB962C8B-B14F-4D97-AF65-F5344CB8AC3E}">
        <p14:creationId xmlns:p14="http://schemas.microsoft.com/office/powerpoint/2010/main" val="3217818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kern="1200" dirty="0">
                <a:solidFill>
                  <a:schemeClr val="tx1"/>
                </a:solidFill>
                <a:effectLst/>
                <a:latin typeface="+mn-lt"/>
                <a:ea typeface="+mn-ea"/>
                <a:cs typeface="+mn-cs"/>
              </a:rPr>
              <a:t>Au titre des dispositions applicables au délai dont dispose le contribuable pour informer l’administration fiscale des évènements intervenant dans le cycle de vie de l’entreprise, deux changements majeurs ont été fait. </a:t>
            </a:r>
          </a:p>
          <a:p>
            <a:r>
              <a:rPr lang="fr-FR" sz="1200" b="0" kern="1200" dirty="0">
                <a:solidFill>
                  <a:schemeClr val="tx1"/>
                </a:solidFill>
                <a:effectLst/>
                <a:latin typeface="+mn-lt"/>
                <a:ea typeface="+mn-ea"/>
                <a:cs typeface="+mn-cs"/>
              </a:rPr>
              <a:t>Il s’agit du renforcement de l’encadrement du délai dont dispose le contribuable pour informer l’administration fiscale de la cessation d’activité d’une part et du non-démarrage d’activités pour les entreprises nouvelles d’autre part. </a:t>
            </a:r>
          </a:p>
          <a:p>
            <a:r>
              <a:rPr lang="fr-FR" sz="1200" b="0" kern="1200" dirty="0">
                <a:solidFill>
                  <a:schemeClr val="tx1"/>
                </a:solidFill>
                <a:effectLst/>
                <a:latin typeface="+mn-lt"/>
                <a:ea typeface="+mn-ea"/>
                <a:cs typeface="+mn-cs"/>
              </a:rPr>
              <a:t>Ainsi, </a:t>
            </a:r>
            <a:r>
              <a:rPr lang="fr-FR" b="0" dirty="0">
                <a:solidFill>
                  <a:schemeClr val="tx1"/>
                </a:solidFill>
              </a:rPr>
              <a:t>En cas de Cession, de cessation provisoire ou définitive d’activités, de non démarrage d’activités pour les nouvelles créations d’entreprises, les contribuables doivent dans les délai</a:t>
            </a:r>
            <a:r>
              <a:rPr lang="fr-FR" b="0" baseline="0" dirty="0">
                <a:solidFill>
                  <a:schemeClr val="tx1"/>
                </a:solidFill>
              </a:rPr>
              <a:t> de quinze jours, </a:t>
            </a:r>
            <a:r>
              <a:rPr lang="fr-FR" b="0" dirty="0">
                <a:solidFill>
                  <a:schemeClr val="tx1"/>
                </a:solidFill>
              </a:rPr>
              <a:t>déterminé comme il est dit ci-après, aviser l'Administration fiscale de la cession ou de la cessation et lui faire connaître la date à laquelle elle a été effective ainsi que, s'il y a lieu, les noms, prénoms et adresse du cessionnaire.  </a:t>
            </a:r>
          </a:p>
          <a:p>
            <a:r>
              <a:rPr lang="fr-FR" b="0" dirty="0">
                <a:solidFill>
                  <a:schemeClr val="tx1"/>
                </a:solidFill>
              </a:rPr>
              <a:t>Le délai de quinze jours commence à courir : </a:t>
            </a:r>
          </a:p>
          <a:p>
            <a:pPr lvl="0" fontAlgn="base"/>
            <a:r>
              <a:rPr lang="fr-FR" b="0" dirty="0">
                <a:solidFill>
                  <a:schemeClr val="tx1"/>
                </a:solidFill>
              </a:rPr>
              <a:t>lorsqu'il s'agit de la vente ou de la cession d'un fonds de commerce, du jour où la vente ou la cession a été publiée dans un journal d'annonces légales ; </a:t>
            </a:r>
          </a:p>
          <a:p>
            <a:pPr lvl="0" fontAlgn="base"/>
            <a:r>
              <a:rPr lang="fr-FR" b="0" dirty="0">
                <a:solidFill>
                  <a:schemeClr val="tx1"/>
                </a:solidFill>
              </a:rPr>
              <a:t>lorsqu'il s'agit de la vente ou de la cession d'autres entreprises, du jour où l'acquéreur ou le cessionnaire a pris effectivement la direction des exploitations ; - lorsqu'il s'agit d'une cessation d'activités, du jour de la fermeture effective des établissements ; </a:t>
            </a:r>
          </a:p>
          <a:p>
            <a:pPr lvl="0" fontAlgn="base"/>
            <a:r>
              <a:rPr lang="fr-FR" b="0" dirty="0">
                <a:solidFill>
                  <a:schemeClr val="tx1"/>
                </a:solidFill>
              </a:rPr>
              <a:t>lorsqu'il s'agit du non-démarrage d'activités, du jour d’immatriculation au CFE ou au </a:t>
            </a:r>
            <a:r>
              <a:rPr lang="fr-FR" b="1" dirty="0">
                <a:solidFill>
                  <a:schemeClr val="tx1"/>
                </a:solidFill>
              </a:rPr>
              <a:t>centre des impôts. </a:t>
            </a:r>
            <a:endParaRPr lang="fr-FR" dirty="0">
              <a:solidFill>
                <a:schemeClr val="tx1"/>
              </a:solidFill>
            </a:endParaRPr>
          </a:p>
          <a:p>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19</a:t>
            </a:fld>
            <a:endParaRPr lang="fr-TG"/>
          </a:p>
        </p:txBody>
      </p:sp>
    </p:spTree>
    <p:extLst>
      <p:ext uri="{BB962C8B-B14F-4D97-AF65-F5344CB8AC3E}">
        <p14:creationId xmlns:p14="http://schemas.microsoft.com/office/powerpoint/2010/main" val="1409895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a:solidFill>
                  <a:schemeClr val="tx1"/>
                </a:solidFill>
                <a:effectLst/>
                <a:latin typeface="+mn-lt"/>
                <a:ea typeface="+mn-ea"/>
                <a:cs typeface="+mn-cs"/>
              </a:rPr>
              <a:t>Pour ce qui est des dispositions applicables à la préservation du pouvoir d’achat notamment </a:t>
            </a:r>
            <a:r>
              <a:rPr lang="fr-FR" sz="1200" b="1" kern="1200" dirty="0">
                <a:solidFill>
                  <a:schemeClr val="tx1"/>
                </a:solidFill>
                <a:effectLst/>
                <a:latin typeface="+mn-lt"/>
                <a:ea typeface="+mn-ea"/>
                <a:cs typeface="+mn-cs"/>
              </a:rPr>
              <a:t>l’exonération de la TVA sur les cantines scolaires, universitaires ou d’entreprise</a:t>
            </a:r>
            <a:r>
              <a:rPr lang="fr-FR" sz="1200" kern="1200" dirty="0">
                <a:solidFill>
                  <a:schemeClr val="tx1"/>
                </a:solidFill>
                <a:effectLst/>
                <a:latin typeface="+mn-lt"/>
                <a:ea typeface="+mn-ea"/>
                <a:cs typeface="+mn-cs"/>
              </a:rPr>
              <a:t>, depuis 2020, une mesure fiscale a été instituée afin de préserver le pouvoir d’achat des bénéficiaires ou utilisateurs desdites cantines. Cette approche est née de la volonté du Gouvernement de lutter contre la précarité en milieu scolaire, </a:t>
            </a:r>
            <a:r>
              <a:rPr lang="fr-FR" sz="1200" b="1" kern="1200" dirty="0">
                <a:solidFill>
                  <a:schemeClr val="tx1"/>
                </a:solidFill>
                <a:effectLst/>
                <a:latin typeface="+mn-lt"/>
                <a:ea typeface="+mn-ea"/>
                <a:cs typeface="+mn-cs"/>
              </a:rPr>
              <a:t>universitaire</a:t>
            </a:r>
            <a:r>
              <a:rPr lang="fr-FR" sz="1200" kern="1200" dirty="0">
                <a:solidFill>
                  <a:schemeClr val="tx1"/>
                </a:solidFill>
                <a:effectLst/>
                <a:latin typeface="+mn-lt"/>
                <a:ea typeface="+mn-ea"/>
                <a:cs typeface="+mn-cs"/>
              </a:rPr>
              <a:t> et professionnel. Cependant, la disposition mérite d’être revue afin de prendre en compte l’avantage accordé aux cantines d’entreprise qui ne transparait pas clairement dans la mouture originelle.</a:t>
            </a:r>
            <a:endParaRPr lang="fr-FR" dirty="0">
              <a:effectLst/>
            </a:endParaRP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20</a:t>
            </a:fld>
            <a:endParaRPr lang="fr-TG"/>
          </a:p>
        </p:txBody>
      </p:sp>
    </p:spTree>
    <p:extLst>
      <p:ext uri="{BB962C8B-B14F-4D97-AF65-F5344CB8AC3E}">
        <p14:creationId xmlns:p14="http://schemas.microsoft.com/office/powerpoint/2010/main" val="4153895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Le contrôle fiscal dans les entreprises dont la comptabilité est tenue au moyen de systèmes informatisés, a été encadré et une précision apportée aux obligations qui incombent à ces contribuables ainsi que les sanctions en cas de non-respect des obligations légales.</a:t>
            </a:r>
          </a:p>
          <a:p>
            <a:pPr lvl="0" algn="just" fontAlgn="base"/>
            <a:endParaRPr lang="fr-FR" sz="1200" b="1" dirty="0">
              <a:solidFill>
                <a:schemeClr val="tx1"/>
              </a:solidFill>
            </a:endParaRPr>
          </a:p>
          <a:p>
            <a:pPr lvl="0" algn="just" fontAlgn="base"/>
            <a:r>
              <a:rPr lang="fr-FR" sz="1200" b="1" dirty="0">
                <a:solidFill>
                  <a:schemeClr val="tx1"/>
                </a:solidFill>
              </a:rPr>
              <a:t>Ainsi,</a:t>
            </a:r>
            <a:r>
              <a:rPr lang="fr-FR" sz="1200" b="1" baseline="0" dirty="0">
                <a:solidFill>
                  <a:schemeClr val="tx1"/>
                </a:solidFill>
              </a:rPr>
              <a:t> </a:t>
            </a:r>
            <a:r>
              <a:rPr lang="fr-FR" sz="1200" b="1" dirty="0">
                <a:solidFill>
                  <a:schemeClr val="tx1"/>
                </a:solidFill>
              </a:rPr>
              <a:t>En cas de tenue de la comptabilité au moyen de systèmes informatisés, le constat que la comptabilité n’est pas présentée selon les modalités prévues à l’article 216 du présent Livre entraine l’application d’une amende de dix millions (10 000 000) de francs CFA ou d’une majoration de 10% des droits simples mis à la charge du contribuable en cas de redressement si ce montant est plus élevé. </a:t>
            </a:r>
          </a:p>
          <a:p>
            <a:pPr algn="just"/>
            <a:r>
              <a:rPr lang="fr-FR" sz="1200" b="1" dirty="0">
                <a:solidFill>
                  <a:schemeClr val="tx1"/>
                </a:solidFill>
              </a:rPr>
              <a:t>Le défaut de transmission dans les délais de la comptabilité tenue au moyen de systèmes informatisés selon les modalités prévues à l’article 216 du présent Livre, est sanctionné d’une amende de vingt millions (20 000 000) de francs CFA. </a:t>
            </a:r>
          </a:p>
          <a:p>
            <a:pPr marL="0" marR="0" indent="0" algn="l" defTabSz="914400" rtl="0" eaLnBrk="1" fontAlgn="auto" latinLnBrk="0" hangingPunct="1">
              <a:lnSpc>
                <a:spcPct val="100000"/>
              </a:lnSpc>
              <a:spcBef>
                <a:spcPts val="0"/>
              </a:spcBef>
              <a:spcAft>
                <a:spcPts val="0"/>
              </a:spcAft>
              <a:buClrTx/>
              <a:buSzTx/>
              <a:buFontTx/>
              <a:buNone/>
              <a:tabLst/>
              <a:defRPr/>
            </a:pPr>
            <a:endParaRPr lang="fr-FR" b="1" dirty="0">
              <a:solidFill>
                <a:schemeClr val="tx1"/>
              </a:solidFill>
              <a:effectLst/>
            </a:endParaRPr>
          </a:p>
          <a:p>
            <a:endParaRPr lang="fr-FR" b="1" dirty="0">
              <a:effectLst/>
            </a:endParaRPr>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21</a:t>
            </a:fld>
            <a:endParaRPr lang="fr-TG"/>
          </a:p>
        </p:txBody>
      </p:sp>
    </p:spTree>
    <p:extLst>
      <p:ext uri="{BB962C8B-B14F-4D97-AF65-F5344CB8AC3E}">
        <p14:creationId xmlns:p14="http://schemas.microsoft.com/office/powerpoint/2010/main" val="4139266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a:solidFill>
                  <a:schemeClr val="tx1"/>
                </a:solidFill>
                <a:effectLst/>
                <a:latin typeface="+mn-lt"/>
                <a:ea typeface="+mn-ea"/>
                <a:cs typeface="+mn-cs"/>
              </a:rPr>
              <a:t>En matière de dispositions applicables à </a:t>
            </a:r>
            <a:r>
              <a:rPr lang="fr-FR" sz="1200" b="1" kern="1200" dirty="0">
                <a:solidFill>
                  <a:schemeClr val="tx1"/>
                </a:solidFill>
                <a:effectLst/>
                <a:latin typeface="+mn-lt"/>
                <a:ea typeface="+mn-ea"/>
                <a:cs typeface="+mn-cs"/>
              </a:rPr>
              <a:t>la sécurité juridique offerte au contribuable et à l’amélioration du climat des affaires, dans la procédure d'exécution du contrôle fiscal opérationnel</a:t>
            </a:r>
            <a:r>
              <a:rPr lang="fr-FR" sz="1200" kern="1200" dirty="0">
                <a:solidFill>
                  <a:schemeClr val="tx1"/>
                </a:solidFill>
                <a:effectLst/>
                <a:latin typeface="+mn-lt"/>
                <a:ea typeface="+mn-ea"/>
                <a:cs typeface="+mn-cs"/>
              </a:rPr>
              <a:t>, il est prévu d'envoyer obligatoirement un avis de vérification sept (07) jours avant le début effectif du contrôle sur place. Il peut arriver que le contribuable sollicite un délai supplémentaire pour en cas de difficultés ; dans ces conditions, la loi a prévu un report ne pouvant excéder un total de quinze (15) jours. Il est cependant constaté une interprétation divergente sur le cumul du délai pouvant être accordé. </a:t>
            </a:r>
            <a:endParaRPr lang="fr-FR" dirty="0">
              <a:effectLst/>
            </a:endParaRPr>
          </a:p>
          <a:p>
            <a:r>
              <a:rPr lang="fr-FR" sz="1200" kern="1200" dirty="0">
                <a:solidFill>
                  <a:schemeClr val="tx1"/>
                </a:solidFill>
                <a:effectLst/>
                <a:latin typeface="+mn-lt"/>
                <a:ea typeface="+mn-ea"/>
                <a:cs typeface="+mn-cs"/>
              </a:rPr>
              <a:t>L’objectif poursuivi ici est de renforcer juridiquement la disposition en améliorant le climat des affaires et la relation de confiance entre l’administration et le contribuable.</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Ainsi, </a:t>
            </a:r>
            <a:r>
              <a:rPr lang="fr-FR" sz="1200" b="1" kern="1200" dirty="0">
                <a:solidFill>
                  <a:schemeClr val="tx2">
                    <a:lumMod val="50000"/>
                  </a:schemeClr>
                </a:solidFill>
                <a:effectLst/>
                <a:latin typeface="+mn-lt"/>
                <a:ea typeface="+mn-ea"/>
                <a:cs typeface="+mn-cs"/>
              </a:rPr>
              <a:t>l</a:t>
            </a:r>
            <a:r>
              <a:rPr lang="fr-FR" sz="1200" b="1" dirty="0">
                <a:solidFill>
                  <a:schemeClr val="tx2">
                    <a:lumMod val="50000"/>
                  </a:schemeClr>
                </a:solidFill>
              </a:rPr>
              <a:t>e législateur clarifie la disposition en précisant qu’avant l’expiration du délai de sept (07) jours et sur demande du contribuable, une prorogation de délai ne pouvant excéder huit (08) jours peut être accordée.</a:t>
            </a:r>
          </a:p>
          <a:p>
            <a:endParaRPr lang="fr-FR" dirty="0">
              <a:effectLst/>
            </a:endParaRP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22</a:t>
            </a:fld>
            <a:endParaRPr lang="fr-TG"/>
          </a:p>
        </p:txBody>
      </p:sp>
    </p:spTree>
    <p:extLst>
      <p:ext uri="{BB962C8B-B14F-4D97-AF65-F5344CB8AC3E}">
        <p14:creationId xmlns:p14="http://schemas.microsoft.com/office/powerpoint/2010/main" val="528267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200" b="1" dirty="0">
                <a:solidFill>
                  <a:schemeClr val="tx2">
                    <a:lumMod val="50000"/>
                  </a:schemeClr>
                </a:solidFill>
              </a:rPr>
              <a:t>En effet, en matière de dispositions applicables aux procédures de recouvrement, la requalification appropriée de l’avis de mise en recouvrement (AMR) conformément à son objet ainsi que la sécurité juridique du contribuable s’imposent.</a:t>
            </a:r>
          </a:p>
          <a:p>
            <a:pPr algn="just"/>
            <a:endParaRPr lang="fr-FR" sz="800" b="1" dirty="0">
              <a:solidFill>
                <a:schemeClr val="tx2">
                  <a:lumMod val="50000"/>
                </a:schemeClr>
              </a:solidFill>
            </a:endParaRPr>
          </a:p>
          <a:p>
            <a:pPr algn="just"/>
            <a:r>
              <a:rPr lang="fr-FR" sz="1200" b="1" dirty="0">
                <a:solidFill>
                  <a:schemeClr val="tx2">
                    <a:lumMod val="50000"/>
                  </a:schemeClr>
                </a:solidFill>
              </a:rPr>
              <a:t>Avant d'enclencher toute procédure de recouvrement fiscal, il est indispensable d'authentifier ou d'officialiser la créance du Trésor à travers un avis de mise en recouvrement (AMR) ; faute de quoi, l’obligation de payer n’existe pas.</a:t>
            </a:r>
          </a:p>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23</a:t>
            </a:fld>
            <a:endParaRPr lang="fr-TG"/>
          </a:p>
        </p:txBody>
      </p:sp>
    </p:spTree>
    <p:extLst>
      <p:ext uri="{BB962C8B-B14F-4D97-AF65-F5344CB8AC3E}">
        <p14:creationId xmlns:p14="http://schemas.microsoft.com/office/powerpoint/2010/main" val="3108135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93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3004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7638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BA70A4-CC60-334F-8B3B-914DE887499A}" type="slidenum">
              <a:rPr kumimoji="0" lang="fr-T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T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761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ABA70A4-CC60-334F-8B3B-914DE887499A}" type="slidenum">
              <a:rPr lang="fr-TG" smtClean="0"/>
              <a:t>28</a:t>
            </a:fld>
            <a:endParaRPr lang="fr-TG"/>
          </a:p>
        </p:txBody>
      </p:sp>
    </p:spTree>
    <p:extLst>
      <p:ext uri="{BB962C8B-B14F-4D97-AF65-F5344CB8AC3E}">
        <p14:creationId xmlns:p14="http://schemas.microsoft.com/office/powerpoint/2010/main" val="2808915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BE41265-2778-4EF3-AFB3-5165CD4D3D43}" type="datetimeFigureOut">
              <a:rPr lang="fr-FR" smtClean="0"/>
              <a:t>11/01/2023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3835516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BE41265-2778-4EF3-AFB3-5165CD4D3D43}" type="datetimeFigureOut">
              <a:rPr lang="fr-FR" smtClean="0"/>
              <a:t>11/01/2023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253074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ABE41265-2778-4EF3-AFB3-5165CD4D3D43}" type="datetimeFigureOut">
              <a:rPr lang="fr-FR" smtClean="0"/>
              <a:t>11/01/2023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428267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BE41265-2778-4EF3-AFB3-5165CD4D3D43}" type="datetimeFigureOut">
              <a:rPr lang="fr-FR" smtClean="0"/>
              <a:t>11/01/2023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3027674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BE41265-2778-4EF3-AFB3-5165CD4D3D43}" type="datetimeFigureOut">
              <a:rPr lang="fr-FR" smtClean="0"/>
              <a:t>11/01/2023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372768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BE41265-2778-4EF3-AFB3-5165CD4D3D43}" type="datetimeFigureOut">
              <a:rPr lang="fr-FR" smtClean="0"/>
              <a:t>11/01/2023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154587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E41265-2778-4EF3-AFB3-5165CD4D3D43}" type="datetimeFigureOut">
              <a:rPr lang="fr-FR" smtClean="0"/>
              <a:t>11/01/2023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2255724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BE41265-2778-4EF3-AFB3-5165CD4D3D43}" type="datetimeFigureOut">
              <a:rPr lang="fr-FR" smtClean="0"/>
              <a:t>11/01/2023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173836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BE41265-2778-4EF3-AFB3-5165CD4D3D43}" type="datetimeFigureOut">
              <a:rPr lang="fr-FR" smtClean="0"/>
              <a:t>11/01/2023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365715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BE41265-2778-4EF3-AFB3-5165CD4D3D43}" type="datetimeFigureOut">
              <a:rPr lang="fr-FR" smtClean="0"/>
              <a:t>11/01/2023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740932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BE41265-2778-4EF3-AFB3-5165CD4D3D43}" type="datetimeFigureOut">
              <a:rPr lang="fr-FR" smtClean="0"/>
              <a:t>11/01/2023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82D0239-0AAD-4C8B-A141-BE40EF8F6C25}" type="slidenum">
              <a:rPr lang="fr-FR" smtClean="0"/>
              <a:t>‹N°›</a:t>
            </a:fld>
            <a:endParaRPr lang="fr-FR"/>
          </a:p>
        </p:txBody>
      </p:sp>
    </p:spTree>
    <p:extLst>
      <p:ext uri="{BB962C8B-B14F-4D97-AF65-F5344CB8AC3E}">
        <p14:creationId xmlns:p14="http://schemas.microsoft.com/office/powerpoint/2010/main" val="302257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E41265-2778-4EF3-AFB3-5165CD4D3D43}" type="datetimeFigureOut">
              <a:rPr lang="fr-FR" smtClean="0"/>
              <a:t>11/01/2023</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D0239-0AAD-4C8B-A141-BE40EF8F6C25}" type="slidenum">
              <a:rPr lang="fr-FR" smtClean="0"/>
              <a:t>‹N°›</a:t>
            </a:fld>
            <a:endParaRPr lang="fr-FR"/>
          </a:p>
        </p:txBody>
      </p:sp>
    </p:spTree>
    <p:extLst>
      <p:ext uri="{BB962C8B-B14F-4D97-AF65-F5344CB8AC3E}">
        <p14:creationId xmlns:p14="http://schemas.microsoft.com/office/powerpoint/2010/main" val="348506121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942113" y="1776106"/>
            <a:ext cx="11249887" cy="235801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itre 1"/>
          <p:cNvSpPr>
            <a:spLocks noGrp="1"/>
          </p:cNvSpPr>
          <p:nvPr>
            <p:ph type="ctrTitle"/>
          </p:nvPr>
        </p:nvSpPr>
        <p:spPr>
          <a:xfrm>
            <a:off x="856527" y="2678806"/>
            <a:ext cx="10660283" cy="709773"/>
          </a:xfrm>
        </p:spPr>
        <p:txBody>
          <a:bodyPr anchor="b">
            <a:noAutofit/>
          </a:bodyPr>
          <a:lstStyle>
            <a:lvl1pPr algn="l">
              <a:defRPr sz="5400">
                <a:solidFill>
                  <a:schemeClr val="tx1"/>
                </a:solidFill>
              </a:defRPr>
            </a:lvl1pPr>
          </a:lstStyle>
          <a:p>
            <a:pPr algn="ctr"/>
            <a:r>
              <a:rPr lang="fr-FR" sz="3000" b="1" dirty="0">
                <a:solidFill>
                  <a:schemeClr val="bg1"/>
                </a:solidFill>
                <a:latin typeface="Arial" panose="020B0604020202020204" pitchFamily="34" charset="0"/>
                <a:cs typeface="Arial" panose="020B0604020202020204" pitchFamily="34" charset="0"/>
              </a:rPr>
              <a:t>PRESENTATION DES MESURES FISCALES ET DOUANIERES CONTENUES DANS LA LOI DE FINANCES</a:t>
            </a:r>
            <a:r>
              <a:rPr lang="fr-FR" sz="3000" b="1" dirty="0">
                <a:latin typeface="Arial" panose="020B0604020202020204" pitchFamily="34" charset="0"/>
                <a:cs typeface="Arial" panose="020B0604020202020204" pitchFamily="34" charset="0"/>
              </a:rPr>
              <a:t/>
            </a:r>
            <a:br>
              <a:rPr lang="fr-FR" sz="3000" b="1" dirty="0">
                <a:latin typeface="Arial" panose="020B0604020202020204" pitchFamily="34" charset="0"/>
                <a:cs typeface="Arial" panose="020B0604020202020204" pitchFamily="34" charset="0"/>
              </a:rPr>
            </a:br>
            <a:r>
              <a:rPr lang="fr-FR" sz="3000" b="1" i="1" dirty="0">
                <a:solidFill>
                  <a:schemeClr val="accent1">
                    <a:lumMod val="40000"/>
                    <a:lumOff val="60000"/>
                  </a:schemeClr>
                </a:solidFill>
                <a:latin typeface="Arial" panose="020B0604020202020204" pitchFamily="34" charset="0"/>
                <a:cs typeface="Arial" panose="020B0604020202020204" pitchFamily="34" charset="0"/>
              </a:rPr>
              <a:t>Exercice 2023</a:t>
            </a:r>
            <a:endParaRPr lang="fr-FR" sz="3000" dirty="0">
              <a:solidFill>
                <a:schemeClr val="accent5">
                  <a:lumMod val="75000"/>
                </a:schemeClr>
              </a:solidFill>
              <a:latin typeface="Century Gothic" panose="020B0502020202020204" pitchFamily="34" charset="0"/>
            </a:endParaRPr>
          </a:p>
        </p:txBody>
      </p:sp>
      <p:sp>
        <p:nvSpPr>
          <p:cNvPr id="18" name="Sous-titre 2"/>
          <p:cNvSpPr>
            <a:spLocks noGrp="1"/>
          </p:cNvSpPr>
          <p:nvPr>
            <p:ph type="subTitle" idx="1"/>
          </p:nvPr>
        </p:nvSpPr>
        <p:spPr>
          <a:xfrm>
            <a:off x="71255" y="5998695"/>
            <a:ext cx="12191999" cy="728676"/>
          </a:xfrm>
        </p:spPr>
        <p:txBody>
          <a:bodyPr>
            <a:noAutofit/>
          </a:bodyPr>
          <a:lstStyle>
            <a:lvl1pPr marL="0" indent="0" algn="l">
              <a:buNone/>
              <a:defRPr sz="2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endParaRPr lang="fr-FR" sz="1600" b="1" i="1" dirty="0">
              <a:solidFill>
                <a:schemeClr val="accent1">
                  <a:lumMod val="50000"/>
                </a:schemeClr>
              </a:solidFill>
              <a:latin typeface="Century Gothic" panose="020B0502020202020204" pitchFamily="34" charset="0"/>
              <a:cs typeface="Arial" panose="020B0604020202020204" pitchFamily="34" charset="0"/>
            </a:endParaRPr>
          </a:p>
          <a:p>
            <a:pPr algn="ctr"/>
            <a:r>
              <a:rPr lang="fr-FR" sz="1600" b="1" i="1" dirty="0">
                <a:solidFill>
                  <a:schemeClr val="accent1">
                    <a:lumMod val="50000"/>
                  </a:schemeClr>
                </a:solidFill>
                <a:latin typeface="Century Gothic" panose="020B0502020202020204" pitchFamily="34" charset="0"/>
                <a:cs typeface="Arial" panose="020B0604020202020204" pitchFamily="34" charset="0"/>
              </a:rPr>
              <a:t> </a:t>
            </a:r>
          </a:p>
        </p:txBody>
      </p:sp>
      <p:pic>
        <p:nvPicPr>
          <p:cNvPr id="21" name="Imag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36918" y="57747"/>
            <a:ext cx="2665791" cy="1466254"/>
          </a:xfrm>
          <a:prstGeom prst="rect">
            <a:avLst/>
          </a:prstGeom>
        </p:spPr>
      </p:pic>
      <p:sp>
        <p:nvSpPr>
          <p:cNvPr id="2" name="Rectangle 1"/>
          <p:cNvSpPr/>
          <p:nvPr/>
        </p:nvSpPr>
        <p:spPr>
          <a:xfrm>
            <a:off x="1236371" y="4916871"/>
            <a:ext cx="9929611" cy="523220"/>
          </a:xfrm>
          <a:prstGeom prst="rect">
            <a:avLst/>
          </a:prstGeom>
        </p:spPr>
        <p:txBody>
          <a:bodyPr wrap="square">
            <a:spAutoFit/>
          </a:bodyPr>
          <a:lstStyle/>
          <a:p>
            <a:pPr algn="ctr"/>
            <a:r>
              <a:rPr lang="fr-FR" sz="2800" i="1" dirty="0">
                <a:latin typeface="Arial" panose="020B0604020202020204" pitchFamily="34" charset="0"/>
                <a:cs typeface="Arial" panose="020B0604020202020204" pitchFamily="34" charset="0"/>
              </a:rPr>
              <a:t>Présenté par l’OFFICE TOGOLAIS DES RECETTES (OTR)</a:t>
            </a:r>
          </a:p>
        </p:txBody>
      </p:sp>
    </p:spTree>
    <p:extLst>
      <p:ext uri="{BB962C8B-B14F-4D97-AF65-F5344CB8AC3E}">
        <p14:creationId xmlns:p14="http://schemas.microsoft.com/office/powerpoint/2010/main" val="54796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9566030" y="6340634"/>
            <a:ext cx="3123028" cy="400110"/>
          </a:xfrm>
          <a:prstGeom prst="rect">
            <a:avLst/>
          </a:prstGeom>
          <a:noFill/>
        </p:spPr>
        <p:txBody>
          <a:bodyPr wrap="square" rtlCol="0">
            <a:spAutoFit/>
          </a:bodyPr>
          <a:lstStyle/>
          <a:p>
            <a:r>
              <a:rPr lang="fr-FR" sz="2000" dirty="0">
                <a:solidFill>
                  <a:schemeClr val="bg1"/>
                </a:solidFill>
                <a:latin typeface="Tw Cen MT" panose="020B0602020104020603" pitchFamily="34" charset="0"/>
              </a:rPr>
              <a:t>FÉDÉRER POUR BÂTIR </a:t>
            </a:r>
          </a:p>
        </p:txBody>
      </p:sp>
      <p:sp>
        <p:nvSpPr>
          <p:cNvPr id="10" name="Sous-titre 2"/>
          <p:cNvSpPr txBox="1">
            <a:spLocks/>
          </p:cNvSpPr>
          <p:nvPr/>
        </p:nvSpPr>
        <p:spPr>
          <a:xfrm>
            <a:off x="341194" y="1012885"/>
            <a:ext cx="11600598" cy="41211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Clr>
                <a:prstClr val="black"/>
              </a:buClr>
              <a:buNone/>
            </a:pPr>
            <a:endParaRPr lang="fr-FR" sz="2000" cap="all" dirty="0">
              <a:solidFill>
                <a:prstClr val="black"/>
              </a:solidFill>
              <a:latin typeface="Arial" panose="020B0604020202020204" pitchFamily="34" charset="0"/>
              <a:cs typeface="Arial" panose="020B0604020202020204" pitchFamily="34" charset="0"/>
            </a:endParaRPr>
          </a:p>
        </p:txBody>
      </p:sp>
      <p:graphicFrame>
        <p:nvGraphicFramePr>
          <p:cNvPr id="3" name="Diagramme 2"/>
          <p:cNvGraphicFramePr/>
          <p:nvPr>
            <p:extLst>
              <p:ext uri="{D42A27DB-BD31-4B8C-83A1-F6EECF244321}">
                <p14:modId xmlns:p14="http://schemas.microsoft.com/office/powerpoint/2010/main" val="2658495429"/>
              </p:ext>
            </p:extLst>
          </p:nvPr>
        </p:nvGraphicFramePr>
        <p:xfrm>
          <a:off x="1113710" y="1293886"/>
          <a:ext cx="9813370" cy="46879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Image 19"/>
          <p:cNvPicPr>
            <a:picLocks noChangeAspect="1"/>
          </p:cNvPicPr>
          <p:nvPr/>
        </p:nvPicPr>
        <p:blipFill>
          <a:blip r:embed="rId8"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descr="C:\Users\USER\Desktop\doc\logojpg\Logo-01.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6688015" y="-755442"/>
            <a:ext cx="6293769" cy="8689015"/>
          </a:xfrm>
          <a:prstGeom prst="rect">
            <a:avLst/>
          </a:prstGeom>
          <a:blipFill dpi="0" rotWithShape="1">
            <a:blip r:embed="rId10">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 </a:t>
            </a:r>
          </a:p>
        </p:txBody>
      </p:sp>
      <p:sp>
        <p:nvSpPr>
          <p:cNvPr id="15" name="Triangle rectangle 14"/>
          <p:cNvSpPr/>
          <p:nvPr/>
        </p:nvSpPr>
        <p:spPr>
          <a:xfrm flipH="1">
            <a:off x="11157440" y="0"/>
            <a:ext cx="1034560" cy="738553"/>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avec coin arrondi et coin rogné 15"/>
          <p:cNvSpPr/>
          <p:nvPr/>
        </p:nvSpPr>
        <p:spPr>
          <a:xfrm>
            <a:off x="1" y="0"/>
            <a:ext cx="5266592" cy="738553"/>
          </a:xfrm>
          <a:prstGeom prst="snip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p:cNvSpPr txBox="1"/>
          <p:nvPr/>
        </p:nvSpPr>
        <p:spPr>
          <a:xfrm>
            <a:off x="6479930" y="167054"/>
            <a:ext cx="3253154" cy="707886"/>
          </a:xfrm>
          <a:prstGeom prst="rect">
            <a:avLst/>
          </a:prstGeom>
          <a:noFill/>
        </p:spPr>
        <p:txBody>
          <a:bodyPr wrap="square" rtlCol="0">
            <a:spAutoFit/>
          </a:bodyPr>
          <a:lstStyle/>
          <a:p>
            <a:r>
              <a:rPr lang="fr-FR" sz="4000" b="1" dirty="0">
                <a:solidFill>
                  <a:schemeClr val="accent5">
                    <a:lumMod val="50000"/>
                  </a:schemeClr>
                </a:solidFill>
                <a:latin typeface="Century Gothic" panose="020B0502020202020204" pitchFamily="34" charset="0"/>
              </a:rPr>
              <a:t>SOMMAIRE </a:t>
            </a:r>
          </a:p>
        </p:txBody>
      </p:sp>
      <p:pic>
        <p:nvPicPr>
          <p:cNvPr id="11" name="Picture 2" descr="C:\Users\USER\Desktop\doc\logojpg\Logo-01.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1194" y="6201601"/>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descr="C:\Users\USER\Desktop\doc\logojpg\Logo-01.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1194" y="6210396"/>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5955050"/>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96558" y="-202012"/>
            <a:ext cx="4558247" cy="1325563"/>
          </a:xfrm>
        </p:spPr>
        <p:txBody>
          <a:bodyPr/>
          <a:lstStyle/>
          <a:p>
            <a:r>
              <a:rPr lang="fr-FR" b="1" dirty="0">
                <a:solidFill>
                  <a:schemeClr val="bg1"/>
                </a:solidFill>
                <a:latin typeface="Century Gothic" panose="020B0502020202020204" pitchFamily="34" charset="0"/>
                <a:cs typeface="Arial" panose="020B0604020202020204" pitchFamily="34" charset="0"/>
              </a:rPr>
              <a:t>INTRODUCTION</a:t>
            </a:r>
            <a:endParaRPr lang="fr-FR" dirty="0">
              <a:latin typeface="Century Gothic" panose="020B0502020202020204" pitchFamily="34" charset="0"/>
            </a:endParaRPr>
          </a:p>
        </p:txBody>
      </p:sp>
      <p:sp>
        <p:nvSpPr>
          <p:cNvPr id="8" name="ZoneTexte 7"/>
          <p:cNvSpPr txBox="1"/>
          <p:nvPr/>
        </p:nvSpPr>
        <p:spPr>
          <a:xfrm>
            <a:off x="9566030" y="6340634"/>
            <a:ext cx="3123028" cy="400110"/>
          </a:xfrm>
          <a:prstGeom prst="rect">
            <a:avLst/>
          </a:prstGeom>
          <a:noFill/>
        </p:spPr>
        <p:txBody>
          <a:bodyPr wrap="square" rtlCol="0">
            <a:spAutoFit/>
          </a:bodyPr>
          <a:lstStyle/>
          <a:p>
            <a:r>
              <a:rPr lang="fr-FR" sz="2000" dirty="0">
                <a:solidFill>
                  <a:schemeClr val="bg1"/>
                </a:solidFill>
                <a:latin typeface="Tw Cen MT" panose="020B0602020104020603" pitchFamily="34" charset="0"/>
              </a:rPr>
              <a:t>FÉDÉRER POUR BÂTIR </a:t>
            </a:r>
          </a:p>
        </p:txBody>
      </p:sp>
      <p:sp>
        <p:nvSpPr>
          <p:cNvPr id="10" name="Sous-titre 2"/>
          <p:cNvSpPr txBox="1">
            <a:spLocks/>
          </p:cNvSpPr>
          <p:nvPr/>
        </p:nvSpPr>
        <p:spPr>
          <a:xfrm>
            <a:off x="1" y="884176"/>
            <a:ext cx="12191999" cy="53479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Clr>
                <a:prstClr val="black"/>
              </a:buClr>
              <a:buNone/>
            </a:pPr>
            <a:endParaRPr lang="fr-FR" sz="2000" cap="all" dirty="0">
              <a:solidFill>
                <a:prstClr val="black"/>
              </a:solidFill>
              <a:latin typeface="Arial" panose="020B0604020202020204" pitchFamily="34" charset="0"/>
              <a:cs typeface="Arial" panose="020B0604020202020204" pitchFamily="34" charset="0"/>
            </a:endParaRPr>
          </a:p>
        </p:txBody>
      </p:sp>
      <p:pic>
        <p:nvPicPr>
          <p:cNvPr id="14"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riangle rectangle 15"/>
          <p:cNvSpPr/>
          <p:nvPr/>
        </p:nvSpPr>
        <p:spPr>
          <a:xfrm flipH="1">
            <a:off x="11157440" y="0"/>
            <a:ext cx="1034560" cy="738553"/>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avec coin arrondi et coin rogné 16"/>
          <p:cNvSpPr/>
          <p:nvPr/>
        </p:nvSpPr>
        <p:spPr>
          <a:xfrm>
            <a:off x="1" y="0"/>
            <a:ext cx="5266592" cy="738553"/>
          </a:xfrm>
          <a:prstGeom prst="snip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6688015" y="-755442"/>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Arrondir un rectangle avec un coin diagonal 11"/>
          <p:cNvSpPr/>
          <p:nvPr/>
        </p:nvSpPr>
        <p:spPr>
          <a:xfrm>
            <a:off x="347169" y="1262480"/>
            <a:ext cx="7941960" cy="4294743"/>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lvl="0" algn="just">
              <a:lnSpc>
                <a:spcPct val="90000"/>
              </a:lnSpc>
              <a:spcBef>
                <a:spcPts val="1000"/>
              </a:spcBef>
            </a:pPr>
            <a:endParaRPr lang="fr-FR" sz="4000" b="1" dirty="0">
              <a:solidFill>
                <a:schemeClr val="accent5">
                  <a:lumMod val="50000"/>
                </a:schemeClr>
              </a:solidFill>
              <a:latin typeface="Century Gothic" panose="020B0502020202020204" pitchFamily="34" charset="0"/>
            </a:endParaRPr>
          </a:p>
          <a:p>
            <a:pPr lvl="0" algn="just">
              <a:lnSpc>
                <a:spcPct val="90000"/>
              </a:lnSpc>
              <a:spcBef>
                <a:spcPts val="1000"/>
              </a:spcBef>
            </a:pPr>
            <a:r>
              <a:rPr lang="fr-FR" sz="4000" b="1" dirty="0">
                <a:solidFill>
                  <a:schemeClr val="accent5">
                    <a:lumMod val="50000"/>
                  </a:schemeClr>
                </a:solidFill>
                <a:latin typeface="Century Gothic" panose="020B0502020202020204" pitchFamily="34" charset="0"/>
              </a:rPr>
              <a:t>I.  </a:t>
            </a:r>
            <a:r>
              <a:rPr lang="fr-FR" sz="4000" b="1" dirty="0" smtClean="0">
                <a:solidFill>
                  <a:schemeClr val="accent5">
                    <a:lumMod val="50000"/>
                  </a:schemeClr>
                </a:solidFill>
                <a:latin typeface="Century Gothic" panose="020B0502020202020204" pitchFamily="34" charset="0"/>
              </a:rPr>
              <a:t>MODIFICATIONS </a:t>
            </a:r>
            <a:r>
              <a:rPr lang="fr-FR" sz="4000" b="1" dirty="0">
                <a:solidFill>
                  <a:schemeClr val="accent5">
                    <a:lumMod val="50000"/>
                  </a:schemeClr>
                </a:solidFill>
                <a:latin typeface="Century Gothic" panose="020B0502020202020204" pitchFamily="34" charset="0"/>
              </a:rPr>
              <a:t>DU CGI &amp; </a:t>
            </a:r>
            <a:r>
              <a:rPr lang="fr-FR" sz="4000" b="1" dirty="0" smtClean="0">
                <a:solidFill>
                  <a:schemeClr val="accent5">
                    <a:lumMod val="50000"/>
                  </a:schemeClr>
                </a:solidFill>
                <a:latin typeface="Century Gothic" panose="020B0502020202020204" pitchFamily="34" charset="0"/>
              </a:rPr>
              <a:t>LPF, CDN </a:t>
            </a:r>
            <a:r>
              <a:rPr lang="fr-FR" sz="4000" b="1" dirty="0">
                <a:solidFill>
                  <a:schemeClr val="accent5">
                    <a:lumMod val="50000"/>
                  </a:schemeClr>
                </a:solidFill>
                <a:latin typeface="Century Gothic" panose="020B0502020202020204" pitchFamily="34" charset="0"/>
              </a:rPr>
              <a:t>PAR LA LOI DE  FINANCES EXERCICE 2023</a:t>
            </a:r>
          </a:p>
        </p:txBody>
      </p:sp>
      <p:pic>
        <p:nvPicPr>
          <p:cNvPr id="20" name="Imag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19612" y="2120326"/>
            <a:ext cx="3536170" cy="2923531"/>
          </a:xfrm>
          <a:prstGeom prst="rect">
            <a:avLst/>
          </a:prstGeom>
        </p:spPr>
      </p:pic>
    </p:spTree>
    <p:extLst>
      <p:ext uri="{BB962C8B-B14F-4D97-AF65-F5344CB8AC3E}">
        <p14:creationId xmlns:p14="http://schemas.microsoft.com/office/powerpoint/2010/main" val="2060369706"/>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96558" y="-202012"/>
            <a:ext cx="4558247" cy="1325563"/>
          </a:xfrm>
        </p:spPr>
        <p:txBody>
          <a:bodyPr/>
          <a:lstStyle/>
          <a:p>
            <a:r>
              <a:rPr lang="fr-FR" b="1" dirty="0">
                <a:solidFill>
                  <a:schemeClr val="bg1"/>
                </a:solidFill>
                <a:latin typeface="Century Gothic" panose="020B0502020202020204" pitchFamily="34" charset="0"/>
                <a:cs typeface="Arial" panose="020B0604020202020204" pitchFamily="34" charset="0"/>
              </a:rPr>
              <a:t>INTRODUCTION</a:t>
            </a:r>
            <a:endParaRPr lang="fr-FR" dirty="0">
              <a:latin typeface="Century Gothic" panose="020B0502020202020204" pitchFamily="34" charset="0"/>
            </a:endParaRPr>
          </a:p>
        </p:txBody>
      </p:sp>
      <p:sp>
        <p:nvSpPr>
          <p:cNvPr id="8" name="ZoneTexte 7"/>
          <p:cNvSpPr txBox="1"/>
          <p:nvPr/>
        </p:nvSpPr>
        <p:spPr>
          <a:xfrm>
            <a:off x="9566030" y="6340634"/>
            <a:ext cx="3123028" cy="400110"/>
          </a:xfrm>
          <a:prstGeom prst="rect">
            <a:avLst/>
          </a:prstGeom>
          <a:noFill/>
        </p:spPr>
        <p:txBody>
          <a:bodyPr wrap="square" rtlCol="0">
            <a:spAutoFit/>
          </a:bodyPr>
          <a:lstStyle/>
          <a:p>
            <a:r>
              <a:rPr lang="fr-FR" sz="2000" dirty="0">
                <a:solidFill>
                  <a:schemeClr val="bg1"/>
                </a:solidFill>
                <a:latin typeface="Tw Cen MT" panose="020B0602020104020603" pitchFamily="34" charset="0"/>
              </a:rPr>
              <a:t>FÉDÉRER POUR BÂTIR </a:t>
            </a:r>
          </a:p>
        </p:txBody>
      </p:sp>
      <p:sp>
        <p:nvSpPr>
          <p:cNvPr id="10" name="Sous-titre 2"/>
          <p:cNvSpPr txBox="1">
            <a:spLocks/>
          </p:cNvSpPr>
          <p:nvPr/>
        </p:nvSpPr>
        <p:spPr>
          <a:xfrm>
            <a:off x="298286" y="884176"/>
            <a:ext cx="11595428" cy="53479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Clr>
                <a:prstClr val="black"/>
              </a:buClr>
              <a:buNone/>
            </a:pPr>
            <a:endParaRPr lang="fr-FR" sz="2000" cap="all" dirty="0">
              <a:solidFill>
                <a:prstClr val="black"/>
              </a:solidFill>
              <a:latin typeface="Arial" panose="020B0604020202020204" pitchFamily="34" charset="0"/>
              <a:cs typeface="Arial" panose="020B0604020202020204" pitchFamily="34" charset="0"/>
            </a:endParaRPr>
          </a:p>
        </p:txBody>
      </p:sp>
      <p:pic>
        <p:nvPicPr>
          <p:cNvPr id="14"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riangle rectangle 15"/>
          <p:cNvSpPr/>
          <p:nvPr/>
        </p:nvSpPr>
        <p:spPr>
          <a:xfrm flipH="1">
            <a:off x="11157440" y="0"/>
            <a:ext cx="1034560" cy="738553"/>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avec coin arrondi et coin rogné 16"/>
          <p:cNvSpPr/>
          <p:nvPr/>
        </p:nvSpPr>
        <p:spPr>
          <a:xfrm>
            <a:off x="1" y="0"/>
            <a:ext cx="5266592" cy="738553"/>
          </a:xfrm>
          <a:prstGeom prst="snip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Arrondir un rectangle avec un coin diagonal 11"/>
          <p:cNvSpPr/>
          <p:nvPr/>
        </p:nvSpPr>
        <p:spPr>
          <a:xfrm>
            <a:off x="298286" y="997419"/>
            <a:ext cx="11641540" cy="5058038"/>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2800" b="1" dirty="0">
                <a:solidFill>
                  <a:schemeClr val="tx2">
                    <a:lumMod val="50000"/>
                  </a:schemeClr>
                </a:solidFill>
              </a:rPr>
              <a:t>Des innovations  importantes ont été introduites dans la loi de finances, exercice 2023.</a:t>
            </a:r>
          </a:p>
          <a:p>
            <a:pPr algn="just"/>
            <a:r>
              <a:rPr lang="fr-FR" sz="2800" b="1" dirty="0">
                <a:solidFill>
                  <a:schemeClr val="tx2">
                    <a:lumMod val="50000"/>
                  </a:schemeClr>
                </a:solidFill>
              </a:rPr>
              <a:t>Les axes de modification de la loi de finances s’articulent autour des points stratégiques suivants:</a:t>
            </a:r>
          </a:p>
          <a:p>
            <a:pPr algn="just"/>
            <a:endParaRPr lang="fr-FR" sz="2800" b="1" dirty="0">
              <a:solidFill>
                <a:schemeClr val="tx2">
                  <a:lumMod val="50000"/>
                </a:schemeClr>
              </a:solidFill>
            </a:endParaRPr>
          </a:p>
          <a:p>
            <a:r>
              <a:rPr lang="fr-FR" sz="2800" b="1" dirty="0">
                <a:solidFill>
                  <a:schemeClr val="tx2">
                    <a:lumMod val="50000"/>
                  </a:schemeClr>
                </a:solidFill>
              </a:rPr>
              <a:t>a-  Le renforcement de l'équité et de la justice fiscale  </a:t>
            </a:r>
          </a:p>
          <a:p>
            <a:r>
              <a:rPr lang="fr-FR" sz="2800" b="1" dirty="0">
                <a:solidFill>
                  <a:schemeClr val="tx2">
                    <a:lumMod val="50000"/>
                  </a:schemeClr>
                </a:solidFill>
              </a:rPr>
              <a:t>b-  La priorisation des mesures fiscales à caractère social </a:t>
            </a:r>
          </a:p>
          <a:p>
            <a:r>
              <a:rPr lang="fr-FR" sz="2800" b="1" dirty="0">
                <a:solidFill>
                  <a:schemeClr val="tx2">
                    <a:lumMod val="50000"/>
                  </a:schemeClr>
                </a:solidFill>
              </a:rPr>
              <a:t>c-   L’amélioration de la relation de confiance entre l'administration et le contribuable </a:t>
            </a:r>
          </a:p>
          <a:p>
            <a:r>
              <a:rPr lang="fr-FR" sz="2800" b="1" dirty="0">
                <a:solidFill>
                  <a:schemeClr val="tx2">
                    <a:lumMod val="50000"/>
                  </a:schemeClr>
                </a:solidFill>
              </a:rPr>
              <a:t>d-  La reformulation et le réajustement de certaines dispositions fiscales</a:t>
            </a:r>
          </a:p>
          <a:p>
            <a:pPr lvl="0" algn="just">
              <a:lnSpc>
                <a:spcPct val="90000"/>
              </a:lnSpc>
              <a:spcBef>
                <a:spcPts val="1000"/>
              </a:spcBef>
            </a:pPr>
            <a:r>
              <a:rPr lang="fr-FR" sz="2800" b="1" dirty="0">
                <a:solidFill>
                  <a:schemeClr val="tx2">
                    <a:lumMod val="50000"/>
                  </a:schemeClr>
                </a:solidFill>
              </a:rPr>
              <a:t>	</a:t>
            </a:r>
          </a:p>
          <a:p>
            <a:pPr marL="571500" lvl="0" indent="-571500" algn="just">
              <a:lnSpc>
                <a:spcPct val="90000"/>
              </a:lnSpc>
              <a:spcBef>
                <a:spcPts val="1000"/>
              </a:spcBef>
              <a:buFont typeface="+mj-lt"/>
              <a:buAutoNum type="romanUcPeriod"/>
            </a:pPr>
            <a:endParaRPr lang="fr-FR" sz="1200" b="1" dirty="0">
              <a:solidFill>
                <a:prstClr val="black"/>
              </a:solidFill>
            </a:endParaRPr>
          </a:p>
          <a:p>
            <a:pPr marL="571500" lvl="0" indent="-571500" algn="just">
              <a:lnSpc>
                <a:spcPct val="90000"/>
              </a:lnSpc>
              <a:spcBef>
                <a:spcPts val="1000"/>
              </a:spcBef>
              <a:buFont typeface="+mj-lt"/>
              <a:buAutoNum type="romanUcPeriod"/>
            </a:pPr>
            <a:endParaRPr lang="fr-FR" sz="1400" b="1" dirty="0">
              <a:solidFill>
                <a:prstClr val="black"/>
              </a:solidFill>
            </a:endParaRPr>
          </a:p>
          <a:p>
            <a:pPr marL="571500" lvl="0" indent="-571500" algn="just">
              <a:lnSpc>
                <a:spcPct val="90000"/>
              </a:lnSpc>
              <a:spcBef>
                <a:spcPts val="1000"/>
              </a:spcBef>
              <a:buFont typeface="+mj-lt"/>
              <a:buAutoNum type="romanUcPeriod"/>
            </a:pPr>
            <a:endParaRPr lang="fr-FR" sz="1400" b="1" dirty="0">
              <a:solidFill>
                <a:prstClr val="black"/>
              </a:solidFill>
            </a:endParaRPr>
          </a:p>
        </p:txBody>
      </p:sp>
    </p:spTree>
    <p:extLst>
      <p:ext uri="{BB962C8B-B14F-4D97-AF65-F5344CB8AC3E}">
        <p14:creationId xmlns:p14="http://schemas.microsoft.com/office/powerpoint/2010/main" val="3120330703"/>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3200" b="1" dirty="0">
              <a:solidFill>
                <a:schemeClr val="bg1"/>
              </a:solidFill>
              <a:cs typeface="Times New Roman" panose="02020603050405020304" pitchFamily="18" charset="0"/>
            </a:endParaRPr>
          </a:p>
        </p:txBody>
      </p:sp>
      <p:sp>
        <p:nvSpPr>
          <p:cNvPr id="12" name="Arrondir un rectangle avec un coin diagonal 11"/>
          <p:cNvSpPr/>
          <p:nvPr/>
        </p:nvSpPr>
        <p:spPr>
          <a:xfrm>
            <a:off x="537162" y="1482574"/>
            <a:ext cx="11435382" cy="4681440"/>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2">
                    <a:lumMod val="50000"/>
                  </a:schemeClr>
                </a:solidFill>
                <a:effectLst>
                  <a:outerShdw blurRad="38100" dist="38100" dir="2700000" algn="tl">
                    <a:srgbClr val="000000">
                      <a:alpha val="43137"/>
                    </a:srgbClr>
                  </a:outerShdw>
                </a:effectLst>
              </a:rPr>
              <a:t>Article 16 du CGI</a:t>
            </a:r>
          </a:p>
          <a:p>
            <a:pPr algn="just"/>
            <a:endParaRPr lang="fr-FR" sz="1400" b="1" dirty="0">
              <a:solidFill>
                <a:schemeClr val="tx2">
                  <a:lumMod val="50000"/>
                </a:schemeClr>
              </a:solidFill>
            </a:endParaRPr>
          </a:p>
          <a:p>
            <a:pPr algn="just"/>
            <a:r>
              <a:rPr lang="fr-FR" sz="3600" b="1" dirty="0">
                <a:solidFill>
                  <a:schemeClr val="tx2">
                    <a:lumMod val="50000"/>
                  </a:schemeClr>
                </a:solidFill>
              </a:rPr>
              <a:t>La loi donne désormais la possibilité au contribuable qui souhaite être imposé sur la base des frais réels d’introduire une demande auprès de l'administration fiscale pour être taxé sur la base des justificatifs apportés dans des conditions légales. </a:t>
            </a:r>
          </a:p>
          <a:p>
            <a:pPr algn="just"/>
            <a:r>
              <a:rPr lang="fr-FR" sz="2800" b="1" dirty="0">
                <a:solidFill>
                  <a:schemeClr val="tx2">
                    <a:lumMod val="50000"/>
                  </a:schemeClr>
                </a:solidFill>
              </a:rPr>
              <a:t>  </a:t>
            </a:r>
          </a:p>
          <a:p>
            <a:pPr algn="ctr"/>
            <a:endParaRPr lang="fr-FR" sz="2400" b="1" dirty="0">
              <a:solidFill>
                <a:schemeClr val="tx2">
                  <a:lumMod val="50000"/>
                </a:schemeClr>
              </a:solidFill>
            </a:endParaRPr>
          </a:p>
        </p:txBody>
      </p:sp>
    </p:spTree>
    <p:extLst>
      <p:ext uri="{BB962C8B-B14F-4D97-AF65-F5344CB8AC3E}">
        <p14:creationId xmlns:p14="http://schemas.microsoft.com/office/powerpoint/2010/main" val="3919930368"/>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32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0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Article </a:t>
            </a:r>
            <a:r>
              <a:rPr kumimoji="0" lang="fr-FR" sz="3000" b="1" i="0" u="sng" strike="noStrike" kern="1200" cap="none" spc="0" normalizeH="0" baseline="0" noProof="0" dirty="0" smtClean="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43 CGI</a:t>
            </a:r>
            <a:endParaRPr kumimoji="0" lang="fr-FR" sz="30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3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L’article 43 prévoit  l’imposition au titre de l’impôt sur le revenu, catégorie des revenus de capitaux mobiliers (IR-RCM),  des sommes distribuées et qui ne sont pas demeurées investies dans l’entreprise. Le législateur complète les éléments entrant dans la détermination de la base IR-RCM en prévoyant la condition de transfert hors du patrimoine social des sociétés ou personnes morales désignées à l'article 42.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3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7960102"/>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2800" b="1" dirty="0">
              <a:solidFill>
                <a:schemeClr val="bg1"/>
              </a:solidFill>
              <a:cs typeface="Times New Roman" panose="02020603050405020304" pitchFamily="18" charset="0"/>
            </a:endParaRPr>
          </a:p>
        </p:txBody>
      </p:sp>
      <p:sp>
        <p:nvSpPr>
          <p:cNvPr id="12" name="Arrondir un rectangle avec un coin diagonal 11"/>
          <p:cNvSpPr/>
          <p:nvPr/>
        </p:nvSpPr>
        <p:spPr>
          <a:xfrm>
            <a:off x="404025" y="1537657"/>
            <a:ext cx="11435382" cy="4681440"/>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indent="-285750" algn="just">
              <a:buFontTx/>
              <a:buChar char="-"/>
            </a:pPr>
            <a:r>
              <a:rPr lang="fr-FR" sz="3600" b="1" u="sng">
                <a:solidFill>
                  <a:schemeClr val="tx2">
                    <a:lumMod val="50000"/>
                  </a:schemeClr>
                </a:solidFill>
                <a:effectLst>
                  <a:outerShdw blurRad="38100" dist="38100" dir="2700000" algn="tl">
                    <a:srgbClr val="000000">
                      <a:alpha val="43137"/>
                    </a:srgbClr>
                  </a:outerShdw>
                </a:effectLst>
              </a:rPr>
              <a:t>L’article </a:t>
            </a:r>
            <a:r>
              <a:rPr lang="fr-FR" sz="3600" b="1" u="sng" smtClean="0">
                <a:solidFill>
                  <a:schemeClr val="tx2">
                    <a:lumMod val="50000"/>
                  </a:schemeClr>
                </a:solidFill>
                <a:effectLst>
                  <a:outerShdw blurRad="38100" dist="38100" dir="2700000" algn="tl">
                    <a:srgbClr val="000000">
                      <a:alpha val="43137"/>
                    </a:srgbClr>
                  </a:outerShdw>
                </a:effectLst>
              </a:rPr>
              <a:t>103-b</a:t>
            </a:r>
            <a:r>
              <a:rPr lang="fr-FR" sz="3600" b="1" smtClean="0">
                <a:solidFill>
                  <a:schemeClr val="tx2">
                    <a:lumMod val="50000"/>
                  </a:schemeClr>
                </a:solidFill>
              </a:rPr>
              <a:t> </a:t>
            </a:r>
            <a:r>
              <a:rPr lang="fr-FR" sz="3600" b="1" dirty="0" smtClean="0">
                <a:solidFill>
                  <a:schemeClr val="tx2">
                    <a:lumMod val="50000"/>
                  </a:schemeClr>
                </a:solidFill>
              </a:rPr>
              <a:t>qui </a:t>
            </a:r>
            <a:r>
              <a:rPr lang="fr-FR" sz="3600" b="1" dirty="0">
                <a:solidFill>
                  <a:schemeClr val="tx2">
                    <a:lumMod val="50000"/>
                  </a:schemeClr>
                </a:solidFill>
              </a:rPr>
              <a:t>énumère les charges non déductibles, étend désormais le rejet en déduction aux rémunérations allouées aux membres des Conseils d’Administration ès qualités des établissements publics, des entreprises du secteur public et parapublic à quelque titre que ce soit.</a:t>
            </a:r>
          </a:p>
          <a:p>
            <a:pPr algn="just"/>
            <a:endParaRPr lang="fr-FR" sz="3600" b="1" dirty="0">
              <a:solidFill>
                <a:schemeClr val="tx2">
                  <a:lumMod val="50000"/>
                </a:schemeClr>
              </a:solidFill>
            </a:endParaRPr>
          </a:p>
        </p:txBody>
      </p:sp>
    </p:spTree>
    <p:extLst>
      <p:ext uri="{BB962C8B-B14F-4D97-AF65-F5344CB8AC3E}">
        <p14:creationId xmlns:p14="http://schemas.microsoft.com/office/powerpoint/2010/main" val="451475244"/>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2800" b="1" dirty="0">
              <a:solidFill>
                <a:schemeClr val="bg1"/>
              </a:solidFill>
              <a:cs typeface="Times New Roman" panose="02020603050405020304" pitchFamily="18" charset="0"/>
            </a:endParaRPr>
          </a:p>
        </p:txBody>
      </p:sp>
      <p:sp>
        <p:nvSpPr>
          <p:cNvPr id="12" name="Arrondir un rectangle avec un coin diagonal 11"/>
          <p:cNvSpPr/>
          <p:nvPr/>
        </p:nvSpPr>
        <p:spPr>
          <a:xfrm>
            <a:off x="404025" y="1537657"/>
            <a:ext cx="11435382" cy="4681440"/>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2">
                    <a:lumMod val="50000"/>
                  </a:schemeClr>
                </a:solidFill>
                <a:effectLst>
                  <a:outerShdw blurRad="38100" dist="38100" dir="2700000" algn="tl">
                    <a:srgbClr val="000000">
                      <a:alpha val="43137"/>
                    </a:srgbClr>
                  </a:outerShdw>
                </a:effectLst>
              </a:rPr>
              <a:t>Art 103-i  du CGI</a:t>
            </a:r>
            <a:r>
              <a:rPr lang="fr-FR" sz="3600" b="1" dirty="0">
                <a:solidFill>
                  <a:schemeClr val="tx2">
                    <a:lumMod val="50000"/>
                  </a:schemeClr>
                </a:solidFill>
              </a:rPr>
              <a:t> </a:t>
            </a:r>
          </a:p>
          <a:p>
            <a:pPr algn="just"/>
            <a:r>
              <a:rPr lang="fr-FR" sz="3600" b="1" dirty="0">
                <a:solidFill>
                  <a:schemeClr val="tx2">
                    <a:lumMod val="50000"/>
                  </a:schemeClr>
                </a:solidFill>
              </a:rPr>
              <a:t>Les amortissements afférents aux véhicules de tourisme acquis par les entreprises sont totalement déductibles avec limitation de la valeur d’acquisition desdits véhicules à 20 millions Toutes Taxes Comprises.</a:t>
            </a:r>
          </a:p>
          <a:p>
            <a:pPr algn="just"/>
            <a:endParaRPr lang="fr-FR" sz="3600" b="1" dirty="0">
              <a:solidFill>
                <a:schemeClr val="tx2">
                  <a:lumMod val="50000"/>
                </a:schemeClr>
              </a:solidFill>
            </a:endParaRPr>
          </a:p>
        </p:txBody>
      </p:sp>
    </p:spTree>
    <p:extLst>
      <p:ext uri="{BB962C8B-B14F-4D97-AF65-F5344CB8AC3E}">
        <p14:creationId xmlns:p14="http://schemas.microsoft.com/office/powerpoint/2010/main" val="3417882530"/>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28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sng" strike="noStrike" kern="1200" cap="none" spc="0" normalizeH="0" baseline="0" noProof="0" dirty="0">
                <a:ln>
                  <a:noFill/>
                </a:ln>
                <a:solidFill>
                  <a:prstClr val="white"/>
                </a:solidFill>
                <a:effectLst/>
                <a:uLnTx/>
                <a:uFillTx/>
                <a:latin typeface="Calibri" panose="020F0502020204030204"/>
                <a:ea typeface="+mn-ea"/>
                <a:cs typeface="+mn-cs"/>
              </a:rPr>
              <a:t>Art 103-l du CGI :</a:t>
            </a: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La loi n°2021-012 du 18 juin 2021 portant nouveau code du travail en ses articles 230 et suivants, oblige tout employeur à souscrire au profit de ses travailleurs un contrat d’assurance couvrant les risques liés à la maladie et aux accidents non professionnels.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L’amendement de cet article </a:t>
            </a:r>
            <a:r>
              <a:rPr kumimoji="0" lang="fr-FR" sz="1800" b="0" i="0" u="none" strike="noStrike" kern="1200" cap="none" spc="0" normalizeH="0" baseline="0" noProof="0" dirty="0" err="1">
                <a:ln>
                  <a:noFill/>
                </a:ln>
                <a:solidFill>
                  <a:prstClr val="white"/>
                </a:solidFill>
                <a:effectLst/>
                <a:uLnTx/>
                <a:uFillTx/>
                <a:latin typeface="Calibri" panose="020F0502020204030204"/>
                <a:ea typeface="+mn-ea"/>
                <a:cs typeface="+mn-cs"/>
              </a:rPr>
              <a:t>rejète</a:t>
            </a: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 la déductibilité de la prime d’assurance versée au profit du ou des seuls dirigeants de sociétés au détriment de tout le personnel salarié conformément à la loi susvisée.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3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285750" algn="just" defTabSz="914400" rtl="0" eaLnBrk="1" fontAlgn="auto" latinLnBrk="0" hangingPunct="1">
              <a:lnSpc>
                <a:spcPct val="100000"/>
              </a:lnSpc>
              <a:spcBef>
                <a:spcPts val="0"/>
              </a:spcBef>
              <a:spcAft>
                <a:spcPts val="0"/>
              </a:spcAft>
              <a:buClrTx/>
              <a:buSzTx/>
              <a:buFontTx/>
              <a:buChar char="-"/>
              <a:tabLst/>
              <a:defRPr/>
            </a:pP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3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8" name="Arrondir un rectangle avec un coin diagonal 11"/>
          <p:cNvSpPr/>
          <p:nvPr/>
        </p:nvSpPr>
        <p:spPr>
          <a:xfrm>
            <a:off x="232362" y="1583506"/>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40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Art 103-l du CGI</a:t>
            </a:r>
            <a:r>
              <a:rPr kumimoji="0" lang="fr-FR" sz="4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N’est pas </a:t>
            </a:r>
            <a:r>
              <a:rPr kumimoji="0" lang="fr-FR" sz="4000" b="1" i="0" u="none" strike="noStrike" kern="1200" cap="none" spc="0" normalizeH="0" baseline="0" noProof="0" dirty="0" smtClean="0">
                <a:ln>
                  <a:noFill/>
                </a:ln>
                <a:solidFill>
                  <a:schemeClr val="tx1">
                    <a:lumMod val="85000"/>
                    <a:lumOff val="15000"/>
                  </a:schemeClr>
                </a:solidFill>
                <a:effectLst/>
                <a:uLnTx/>
                <a:uFillTx/>
                <a:latin typeface="Calibri" panose="020F0502020204030204"/>
                <a:ea typeface="+mn-ea"/>
                <a:cs typeface="+mn-cs"/>
              </a:rPr>
              <a:t>déductible</a:t>
            </a:r>
            <a:r>
              <a:rPr kumimoji="0" lang="fr-FR" sz="4000" b="1" i="0" u="none" strike="noStrike" kern="1200" cap="none" spc="0" normalizeH="0" noProof="0" dirty="0" smtClean="0">
                <a:ln>
                  <a:noFill/>
                </a:ln>
                <a:solidFill>
                  <a:schemeClr val="tx1">
                    <a:lumMod val="85000"/>
                    <a:lumOff val="15000"/>
                  </a:schemeClr>
                </a:solidFill>
                <a:effectLst/>
                <a:uLnTx/>
                <a:uFillTx/>
                <a:latin typeface="Calibri" panose="020F0502020204030204"/>
                <a:ea typeface="+mn-ea"/>
                <a:cs typeface="+mn-cs"/>
              </a:rPr>
              <a:t> </a:t>
            </a:r>
            <a:r>
              <a:rPr kumimoji="0" lang="fr-FR" sz="4000" b="1" i="0" u="none" strike="noStrike" kern="1200" cap="none" spc="0" normalizeH="0" baseline="0" noProof="0" dirty="0" smtClean="0">
                <a:ln>
                  <a:noFill/>
                </a:ln>
                <a:solidFill>
                  <a:schemeClr val="tx1">
                    <a:lumMod val="85000"/>
                    <a:lumOff val="15000"/>
                  </a:schemeClr>
                </a:solidFill>
                <a:effectLst/>
                <a:uLnTx/>
                <a:uFillTx/>
                <a:latin typeface="Calibri" panose="020F0502020204030204"/>
                <a:ea typeface="+mn-ea"/>
                <a:cs typeface="+mn-cs"/>
              </a:rPr>
              <a:t>la </a:t>
            </a:r>
            <a:r>
              <a:rPr kumimoji="0" lang="fr-FR" sz="40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prime </a:t>
            </a:r>
            <a:r>
              <a:rPr kumimoji="0" lang="fr-FR" sz="4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d’assurance versée au profit </a:t>
            </a:r>
            <a:r>
              <a:rPr kumimoji="0" lang="fr-FR" sz="4000" b="1" i="0" u="sng" strike="noStrike" kern="1200" cap="none" spc="0" normalizeH="0" baseline="0" noProof="0" dirty="0">
                <a:ln>
                  <a:noFill/>
                </a:ln>
                <a:solidFill>
                  <a:srgbClr val="44546A">
                    <a:lumMod val="50000"/>
                  </a:srgbClr>
                </a:solidFill>
                <a:effectLst/>
                <a:uLnTx/>
                <a:uFillTx/>
                <a:latin typeface="Calibri" panose="020F0502020204030204"/>
                <a:ea typeface="+mn-ea"/>
                <a:cs typeface="+mn-cs"/>
              </a:rPr>
              <a:t>du ou des seuls dirigeants</a:t>
            </a:r>
            <a:r>
              <a:rPr kumimoji="0" lang="fr-FR" sz="4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 de sociétés au détriment de tout le personnel salarié conformément à la loi susvisée.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285750" algn="just" defTabSz="914400" rtl="0" eaLnBrk="1" fontAlgn="auto" latinLnBrk="0" hangingPunct="1">
              <a:lnSpc>
                <a:spcPct val="100000"/>
              </a:lnSpc>
              <a:spcBef>
                <a:spcPts val="0"/>
              </a:spcBef>
              <a:spcAft>
                <a:spcPts val="0"/>
              </a:spcAft>
              <a:buClrTx/>
              <a:buSzTx/>
              <a:buFontTx/>
              <a:buChar char="-"/>
              <a:tabLst/>
              <a:defRPr/>
            </a:pP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3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524213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a:t>
            </a:r>
            <a:endParaRPr lang="fr-FR" sz="3200" b="1" dirty="0">
              <a:solidFill>
                <a:schemeClr val="bg1"/>
              </a:solidFill>
              <a:cs typeface="Times New Roman" panose="02020603050405020304" pitchFamily="18" charset="0"/>
            </a:endParaRPr>
          </a:p>
        </p:txBody>
      </p:sp>
      <p:sp>
        <p:nvSpPr>
          <p:cNvPr id="12" name="Arrondir un rectangle avec un coin diagonal 11"/>
          <p:cNvSpPr/>
          <p:nvPr/>
        </p:nvSpPr>
        <p:spPr>
          <a:xfrm>
            <a:off x="404025" y="1537657"/>
            <a:ext cx="11435382" cy="4681440"/>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2">
                    <a:lumMod val="50000"/>
                  </a:schemeClr>
                </a:solidFill>
                <a:effectLst>
                  <a:outerShdw blurRad="38100" dist="38100" dir="2700000" algn="tl">
                    <a:srgbClr val="000000">
                      <a:alpha val="43137"/>
                    </a:srgbClr>
                  </a:outerShdw>
                </a:effectLst>
              </a:rPr>
              <a:t>Article 119 nouveau du CGI</a:t>
            </a:r>
          </a:p>
          <a:p>
            <a:pPr algn="just"/>
            <a:endParaRPr lang="fr-FR" sz="1100" b="1" u="sng" dirty="0">
              <a:solidFill>
                <a:schemeClr val="tx2">
                  <a:lumMod val="50000"/>
                </a:schemeClr>
              </a:solidFill>
              <a:effectLst>
                <a:outerShdw blurRad="38100" dist="38100" dir="2700000" algn="tl">
                  <a:srgbClr val="000000">
                    <a:alpha val="43137"/>
                  </a:srgbClr>
                </a:outerShdw>
              </a:effectLst>
            </a:endParaRPr>
          </a:p>
          <a:p>
            <a:pPr algn="just"/>
            <a:r>
              <a:rPr lang="fr-FR" sz="3200" b="1" dirty="0">
                <a:solidFill>
                  <a:schemeClr val="tx1"/>
                </a:solidFill>
              </a:rPr>
              <a:t>Le redevable qui estime que sa base d'imposition sera réduite d'au moins 25% ou qui prévoit la suppression de son activité en cours d'année et qui désire réduire le montant de son acompte doit présenter une requête dans ce sens au Commissaire des Impôts, </a:t>
            </a:r>
            <a:r>
              <a:rPr lang="fr-FR" sz="3200" b="1" dirty="0" smtClean="0">
                <a:solidFill>
                  <a:schemeClr val="tx1"/>
                </a:solidFill>
              </a:rPr>
              <a:t>lequel, </a:t>
            </a:r>
            <a:r>
              <a:rPr lang="fr-FR" sz="3200" b="1" dirty="0">
                <a:solidFill>
                  <a:schemeClr val="tx1"/>
                </a:solidFill>
              </a:rPr>
              <a:t>après vérification, peut lui accorder une autorisation de réduction, quinze (15) jours au moins avant la date d'exigibilité de l’acompte. </a:t>
            </a:r>
          </a:p>
        </p:txBody>
      </p:sp>
    </p:spTree>
    <p:extLst>
      <p:ext uri="{BB962C8B-B14F-4D97-AF65-F5344CB8AC3E}">
        <p14:creationId xmlns:p14="http://schemas.microsoft.com/office/powerpoint/2010/main" val="3897627729"/>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a-  Le renforcement de l'équité et de la justice fiscale </a:t>
            </a:r>
            <a:endParaRPr lang="fr-FR" sz="3200" b="1" dirty="0">
              <a:solidFill>
                <a:schemeClr val="bg1"/>
              </a:solidFill>
              <a:cs typeface="Times New Roman" panose="02020603050405020304" pitchFamily="18" charset="0"/>
            </a:endParaRPr>
          </a:p>
        </p:txBody>
      </p:sp>
      <p:sp>
        <p:nvSpPr>
          <p:cNvPr id="12" name="Arrondir un rectangle avec un coin diagonal 11"/>
          <p:cNvSpPr/>
          <p:nvPr/>
        </p:nvSpPr>
        <p:spPr>
          <a:xfrm>
            <a:off x="404025" y="1537657"/>
            <a:ext cx="11435382" cy="4681440"/>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r>
              <a:rPr lang="fr-FR" sz="2600" b="1" u="sng" dirty="0">
                <a:solidFill>
                  <a:schemeClr val="tx2">
                    <a:lumMod val="50000"/>
                  </a:schemeClr>
                </a:solidFill>
                <a:effectLst>
                  <a:outerShdw blurRad="38100" dist="38100" dir="2700000" algn="tl">
                    <a:srgbClr val="000000">
                      <a:alpha val="43137"/>
                    </a:srgbClr>
                  </a:outerShdw>
                </a:effectLst>
              </a:rPr>
              <a:t>Art  104, 105, 106, 106 bis, 106 ter du CGI : Prix de transfert</a:t>
            </a:r>
          </a:p>
          <a:p>
            <a:endParaRPr lang="fr-FR" sz="1200" b="1" dirty="0">
              <a:solidFill>
                <a:schemeClr val="tx2">
                  <a:lumMod val="50000"/>
                </a:schemeClr>
              </a:solidFill>
              <a:effectLst>
                <a:outerShdw blurRad="38100" dist="38100" dir="2700000" algn="tl">
                  <a:srgbClr val="000000">
                    <a:alpha val="43137"/>
                  </a:srgbClr>
                </a:outerShdw>
              </a:effectLst>
            </a:endParaRPr>
          </a:p>
        </p:txBody>
      </p:sp>
      <p:graphicFrame>
        <p:nvGraphicFramePr>
          <p:cNvPr id="2" name="Tableau 1"/>
          <p:cNvGraphicFramePr>
            <a:graphicFrameLocks noGrp="1"/>
          </p:cNvGraphicFramePr>
          <p:nvPr>
            <p:extLst>
              <p:ext uri="{D42A27DB-BD31-4B8C-83A1-F6EECF244321}">
                <p14:modId xmlns:p14="http://schemas.microsoft.com/office/powerpoint/2010/main" val="3543097635"/>
              </p:ext>
            </p:extLst>
          </p:nvPr>
        </p:nvGraphicFramePr>
        <p:xfrm>
          <a:off x="1009650" y="2447668"/>
          <a:ext cx="10412228" cy="4009062"/>
        </p:xfrm>
        <a:graphic>
          <a:graphicData uri="http://schemas.openxmlformats.org/drawingml/2006/table">
            <a:tbl>
              <a:tblPr firstRow="1" bandRow="1">
                <a:tableStyleId>{00A15C55-8517-42AA-B614-E9B94910E393}</a:tableStyleId>
              </a:tblPr>
              <a:tblGrid>
                <a:gridCol w="2304872">
                  <a:extLst>
                    <a:ext uri="{9D8B030D-6E8A-4147-A177-3AD203B41FA5}">
                      <a16:colId xmlns:a16="http://schemas.microsoft.com/office/drawing/2014/main" val="2065060262"/>
                    </a:ext>
                  </a:extLst>
                </a:gridCol>
                <a:gridCol w="8107356">
                  <a:extLst>
                    <a:ext uri="{9D8B030D-6E8A-4147-A177-3AD203B41FA5}">
                      <a16:colId xmlns:a16="http://schemas.microsoft.com/office/drawing/2014/main" val="367016241"/>
                    </a:ext>
                  </a:extLst>
                </a:gridCol>
              </a:tblGrid>
              <a:tr h="375528">
                <a:tc>
                  <a:txBody>
                    <a:bodyPr/>
                    <a:lstStyle/>
                    <a:p>
                      <a:pPr algn="ctr"/>
                      <a:r>
                        <a:rPr lang="fr-FR" sz="2400" dirty="0"/>
                        <a:t>DISPOSITIONS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2400" dirty="0"/>
                        <a:t>AMENDEMENTS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0895445"/>
                  </a:ext>
                </a:extLst>
              </a:tr>
              <a:tr h="375528">
                <a:tc>
                  <a:txBody>
                    <a:bodyPr/>
                    <a:lstStyle/>
                    <a:p>
                      <a:pPr algn="l"/>
                      <a:r>
                        <a:rPr lang="fr-FR" sz="2600" b="1" dirty="0"/>
                        <a:t>Art.</a:t>
                      </a:r>
                      <a:r>
                        <a:rPr lang="fr-FR" sz="2600" b="1" baseline="0" dirty="0"/>
                        <a:t> 104 CGI</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2600" b="1" dirty="0">
                          <a:solidFill>
                            <a:schemeClr val="tx2">
                              <a:lumMod val="50000"/>
                            </a:schemeClr>
                          </a:solidFill>
                        </a:rPr>
                        <a:t>Principe de pleine concurrence </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161557"/>
                  </a:ext>
                </a:extLst>
              </a:tr>
              <a:tr h="648171">
                <a:tc>
                  <a:txBody>
                    <a:bodyPr/>
                    <a:lstStyle/>
                    <a:p>
                      <a:pPr algn="l"/>
                      <a:r>
                        <a:rPr lang="fr-FR" sz="2600" b="1" dirty="0"/>
                        <a:t>Art. 105 CGI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2600" b="1" dirty="0">
                          <a:solidFill>
                            <a:schemeClr val="tx2">
                              <a:lumMod val="50000"/>
                            </a:schemeClr>
                          </a:solidFill>
                        </a:rPr>
                        <a:t>Obligation de déclaration annuelle des prix de transfert (500 millions</a:t>
                      </a:r>
                      <a:r>
                        <a:rPr lang="fr-FR" sz="2600" b="1" baseline="0" dirty="0">
                          <a:solidFill>
                            <a:schemeClr val="tx2">
                              <a:lumMod val="50000"/>
                            </a:schemeClr>
                          </a:solidFill>
                        </a:rPr>
                        <a:t> FCFA)</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6919255"/>
                  </a:ext>
                </a:extLst>
              </a:tr>
              <a:tr h="648171">
                <a:tc>
                  <a:txBody>
                    <a:bodyPr/>
                    <a:lstStyle/>
                    <a:p>
                      <a:pPr algn="l"/>
                      <a:r>
                        <a:rPr lang="fr-FR" sz="2600" b="1" dirty="0"/>
                        <a:t>Art. 106 CGI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2600" b="1" dirty="0">
                          <a:solidFill>
                            <a:schemeClr val="tx2">
                              <a:lumMod val="50000"/>
                            </a:schemeClr>
                          </a:solidFill>
                        </a:rPr>
                        <a:t>Obligation documentaire des prix de transfert (1</a:t>
                      </a:r>
                      <a:r>
                        <a:rPr lang="fr-FR" sz="2600" b="1" baseline="0" dirty="0">
                          <a:solidFill>
                            <a:schemeClr val="tx2">
                              <a:lumMod val="50000"/>
                            </a:schemeClr>
                          </a:solidFill>
                        </a:rPr>
                        <a:t> milliard)</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333726"/>
                  </a:ext>
                </a:extLst>
              </a:tr>
              <a:tr h="648171">
                <a:tc>
                  <a:txBody>
                    <a:bodyPr/>
                    <a:lstStyle/>
                    <a:p>
                      <a:pPr algn="l"/>
                      <a:r>
                        <a:rPr lang="fr-FR" sz="2600" b="1" dirty="0"/>
                        <a:t>Art. 106 bis CGI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2600" b="1" dirty="0">
                          <a:solidFill>
                            <a:schemeClr val="tx2">
                              <a:lumMod val="50000"/>
                            </a:schemeClr>
                          </a:solidFill>
                        </a:rPr>
                        <a:t>Obligation de déclaration documentation</a:t>
                      </a:r>
                      <a:r>
                        <a:rPr lang="fr-FR" sz="2600" b="1" baseline="0" dirty="0">
                          <a:solidFill>
                            <a:schemeClr val="tx2">
                              <a:lumMod val="50000"/>
                            </a:schemeClr>
                          </a:solidFill>
                        </a:rPr>
                        <a:t> pays par pays</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6510916"/>
                  </a:ext>
                </a:extLst>
              </a:tr>
              <a:tr h="375528">
                <a:tc>
                  <a:txBody>
                    <a:bodyPr/>
                    <a:lstStyle/>
                    <a:p>
                      <a:pPr algn="l"/>
                      <a:r>
                        <a:rPr lang="fr-FR" sz="2600" b="1" dirty="0"/>
                        <a:t>Art 106 ter CGI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r-FR" sz="2600" b="1" dirty="0">
                          <a:solidFill>
                            <a:schemeClr val="tx2">
                              <a:lumMod val="50000"/>
                            </a:schemeClr>
                          </a:solidFill>
                        </a:rPr>
                        <a:t>obligation documentaire entreprise vérifiée</a:t>
                      </a:r>
                      <a:r>
                        <a:rPr lang="fr-FR" sz="2600" b="1" baseline="0" dirty="0">
                          <a:solidFill>
                            <a:schemeClr val="tx2">
                              <a:lumMod val="50000"/>
                            </a:schemeClr>
                          </a:solidFill>
                        </a:rPr>
                        <a:t> pratiquant prix de transfert</a:t>
                      </a:r>
                      <a:endParaRPr lang="fr-FR" sz="2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891637"/>
                  </a:ext>
                </a:extLst>
              </a:tr>
            </a:tbl>
          </a:graphicData>
        </a:graphic>
      </p:graphicFrame>
    </p:spTree>
    <p:extLst>
      <p:ext uri="{BB962C8B-B14F-4D97-AF65-F5344CB8AC3E}">
        <p14:creationId xmlns:p14="http://schemas.microsoft.com/office/powerpoint/2010/main" val="2304682366"/>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solidFill>
                  <a:schemeClr val="bg1"/>
                </a:solidFill>
              </a:rPr>
              <a:t>a-  Le renforcement de l'équité et de la justice fiscale</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771044"/>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2">
                    <a:lumMod val="50000"/>
                  </a:schemeClr>
                </a:solidFill>
                <a:effectLst>
                  <a:outerShdw blurRad="38100" dist="38100" dir="2700000" algn="tl">
                    <a:srgbClr val="000000">
                      <a:alpha val="43137"/>
                    </a:srgbClr>
                  </a:outerShdw>
                </a:effectLst>
              </a:rPr>
              <a:t>Art. 60 du LPF</a:t>
            </a:r>
            <a:endParaRPr lang="fr-FR" sz="1050" b="1" dirty="0">
              <a:solidFill>
                <a:schemeClr val="tx2">
                  <a:lumMod val="50000"/>
                </a:schemeClr>
              </a:solidFill>
            </a:endParaRPr>
          </a:p>
          <a:p>
            <a:pPr algn="just"/>
            <a:r>
              <a:rPr lang="fr-FR" sz="3600" b="1" dirty="0">
                <a:solidFill>
                  <a:schemeClr val="tx1"/>
                </a:solidFill>
              </a:rPr>
              <a:t>Tout redevable de la taxe sur la valeur ajoutée, </a:t>
            </a:r>
            <a:r>
              <a:rPr lang="fr-FR" sz="3600" b="1" i="1" u="sng" dirty="0">
                <a:solidFill>
                  <a:schemeClr val="tx1"/>
                </a:solidFill>
              </a:rPr>
              <a:t>y compris les opérateurs des plateformes électroniques</a:t>
            </a:r>
            <a:r>
              <a:rPr lang="fr-FR" sz="3600" b="1" dirty="0">
                <a:solidFill>
                  <a:schemeClr val="tx1"/>
                </a:solidFill>
              </a:rPr>
              <a:t> </a:t>
            </a:r>
            <a:r>
              <a:rPr lang="fr-FR" sz="3600" b="1" i="1" u="sng" dirty="0">
                <a:solidFill>
                  <a:schemeClr val="tx1"/>
                </a:solidFill>
              </a:rPr>
              <a:t>ou de commerce en ligne étrangères ou locales</a:t>
            </a:r>
            <a:r>
              <a:rPr lang="fr-FR" sz="3600" b="1" dirty="0">
                <a:solidFill>
                  <a:schemeClr val="tx1"/>
                </a:solidFill>
              </a:rPr>
              <a:t>, est tenu, sous peine de </a:t>
            </a:r>
            <a:r>
              <a:rPr lang="fr-FR" sz="3600" b="1" dirty="0" smtClean="0">
                <a:solidFill>
                  <a:schemeClr val="tx1"/>
                </a:solidFill>
              </a:rPr>
              <a:t>sanction, </a:t>
            </a:r>
            <a:r>
              <a:rPr lang="fr-FR" sz="3600" b="1" dirty="0">
                <a:solidFill>
                  <a:schemeClr val="tx1"/>
                </a:solidFill>
              </a:rPr>
              <a:t>de souscrire auprès du service des impôts au plus tard le 15 de chaque mois et au titre du mois précédent une déclaration conforme au modèle prescrit.</a:t>
            </a:r>
            <a:endParaRPr lang="fr-FR" sz="2800" b="1" dirty="0">
              <a:solidFill>
                <a:schemeClr val="tx2">
                  <a:lumMod val="50000"/>
                </a:schemeClr>
              </a:solidFill>
            </a:endParaRPr>
          </a:p>
          <a:p>
            <a:pPr algn="ctr"/>
            <a:endParaRPr lang="fr-FR" sz="2400" b="1" dirty="0">
              <a:solidFill>
                <a:schemeClr val="tx2">
                  <a:lumMod val="50000"/>
                </a:schemeClr>
              </a:solidFill>
            </a:endParaRPr>
          </a:p>
        </p:txBody>
      </p:sp>
    </p:spTree>
    <p:extLst>
      <p:ext uri="{BB962C8B-B14F-4D97-AF65-F5344CB8AC3E}">
        <p14:creationId xmlns:p14="http://schemas.microsoft.com/office/powerpoint/2010/main" val="2402184829"/>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solidFill>
                  <a:schemeClr val="bg1"/>
                </a:solidFill>
              </a:rPr>
              <a:t>a-  Le renforcement de l'équité et de la justice fiscale </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771044"/>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r>
              <a:rPr lang="fr-FR" sz="3600" b="1" u="sng" dirty="0">
                <a:solidFill>
                  <a:schemeClr val="tx2">
                    <a:lumMod val="50000"/>
                  </a:schemeClr>
                </a:solidFill>
                <a:effectLst>
                  <a:outerShdw blurRad="38100" dist="38100" dir="2700000" algn="tl">
                    <a:srgbClr val="000000">
                      <a:alpha val="43137"/>
                    </a:srgbClr>
                  </a:outerShdw>
                </a:effectLst>
              </a:rPr>
              <a:t>Art 366-2 du CGI</a:t>
            </a:r>
          </a:p>
          <a:p>
            <a:endParaRPr lang="fr-FR" sz="3600" b="1" u="sng" dirty="0">
              <a:solidFill>
                <a:schemeClr val="tx2">
                  <a:lumMod val="50000"/>
                </a:schemeClr>
              </a:solidFill>
              <a:effectLst>
                <a:outerShdw blurRad="38100" dist="38100" dir="2700000" algn="tl">
                  <a:srgbClr val="000000">
                    <a:alpha val="43137"/>
                  </a:srgbClr>
                </a:outerShdw>
              </a:effectLst>
            </a:endParaRPr>
          </a:p>
          <a:p>
            <a:pPr algn="just"/>
            <a:r>
              <a:rPr lang="fr-FR" sz="3600" b="1" dirty="0">
                <a:solidFill>
                  <a:schemeClr val="tx2">
                    <a:lumMod val="50000"/>
                  </a:schemeClr>
                </a:solidFill>
              </a:rPr>
              <a:t>La formalité d’enregistrement est dorénavant étendue à toutes les sentences arbitrales exécutées au Togo qu’elles soient revêtues ou non de l’exéquatur. </a:t>
            </a:r>
          </a:p>
        </p:txBody>
      </p:sp>
    </p:spTree>
    <p:extLst>
      <p:ext uri="{BB962C8B-B14F-4D97-AF65-F5344CB8AC3E}">
        <p14:creationId xmlns:p14="http://schemas.microsoft.com/office/powerpoint/2010/main" val="47142863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t>b- Priorisation des mesures fiscales à caractère social</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200" b="1" u="sng" dirty="0">
                <a:solidFill>
                  <a:schemeClr val="tx2">
                    <a:lumMod val="50000"/>
                  </a:schemeClr>
                </a:solidFill>
                <a:effectLst>
                  <a:outerShdw blurRad="38100" dist="38100" dir="2700000" algn="tl">
                    <a:srgbClr val="000000">
                      <a:alpha val="43137"/>
                    </a:srgbClr>
                  </a:outerShdw>
                </a:effectLst>
              </a:rPr>
              <a:t>Art 38-6 du CGI</a:t>
            </a:r>
          </a:p>
          <a:p>
            <a:pPr algn="just"/>
            <a:r>
              <a:rPr lang="fr-FR" sz="3000" b="1" dirty="0">
                <a:solidFill>
                  <a:schemeClr val="tx1"/>
                </a:solidFill>
              </a:rPr>
              <a:t>La prime d’assurance maladie versée à des compagnies agréées au Togo au profit de l'exploitant individuel et de ses salariés est déductible. </a:t>
            </a:r>
            <a:endParaRPr lang="fr-FR" sz="3000" b="1" dirty="0">
              <a:solidFill>
                <a:schemeClr val="tx2">
                  <a:lumMod val="50000"/>
                </a:schemeClr>
              </a:solidFill>
            </a:endParaRPr>
          </a:p>
          <a:p>
            <a:pPr algn="just"/>
            <a:r>
              <a:rPr lang="fr-FR" sz="3200" b="1" u="sng" dirty="0">
                <a:solidFill>
                  <a:schemeClr val="tx2">
                    <a:lumMod val="50000"/>
                  </a:schemeClr>
                </a:solidFill>
                <a:effectLst>
                  <a:outerShdw blurRad="38100" dist="38100" dir="2700000" algn="tl">
                    <a:srgbClr val="000000">
                      <a:alpha val="43137"/>
                    </a:srgbClr>
                  </a:outerShdw>
                </a:effectLst>
              </a:rPr>
              <a:t>Art 99-i du CGI</a:t>
            </a:r>
            <a:r>
              <a:rPr lang="fr-FR" sz="3200" b="1" dirty="0">
                <a:solidFill>
                  <a:schemeClr val="tx2">
                    <a:lumMod val="50000"/>
                  </a:schemeClr>
                </a:solidFill>
              </a:rPr>
              <a:t> </a:t>
            </a:r>
            <a:endParaRPr lang="fr-FR" sz="1600" b="1" dirty="0">
              <a:solidFill>
                <a:schemeClr val="tx2">
                  <a:lumMod val="50000"/>
                </a:schemeClr>
              </a:solidFill>
            </a:endParaRPr>
          </a:p>
          <a:p>
            <a:pPr algn="just"/>
            <a:r>
              <a:rPr lang="fr-FR" sz="3000" b="1" dirty="0">
                <a:solidFill>
                  <a:schemeClr val="tx1"/>
                </a:solidFill>
              </a:rPr>
              <a:t>L</a:t>
            </a:r>
            <a:r>
              <a:rPr lang="fr-FR" sz="3000" b="1" dirty="0" smtClean="0">
                <a:solidFill>
                  <a:schemeClr val="tx1"/>
                </a:solidFill>
              </a:rPr>
              <a:t>es </a:t>
            </a:r>
            <a:r>
              <a:rPr lang="fr-FR" sz="3000" b="1" dirty="0">
                <a:solidFill>
                  <a:schemeClr val="tx1"/>
                </a:solidFill>
              </a:rPr>
              <a:t>primes d'assurances versées à des compagnies agréées au Togo dans le cadre d'un contrat de groupe d'épargne et de retraite, et </a:t>
            </a:r>
            <a:r>
              <a:rPr lang="fr-FR" sz="3000" b="1" i="1" u="sng" dirty="0">
                <a:solidFill>
                  <a:schemeClr val="tx1"/>
                </a:solidFill>
              </a:rPr>
              <a:t>d'assurance maladie souscrit en faveur de l’ensemble du personnel salarié de l'entreprise</a:t>
            </a:r>
            <a:r>
              <a:rPr lang="fr-FR" sz="3000" b="1" dirty="0">
                <a:solidFill>
                  <a:schemeClr val="tx1"/>
                </a:solidFill>
              </a:rPr>
              <a:t>, sont déductibles pour l'assiette de l'impôt. </a:t>
            </a:r>
          </a:p>
          <a:p>
            <a:pPr algn="just"/>
            <a:endParaRPr lang="fr-FR" sz="3000" b="1" dirty="0">
              <a:solidFill>
                <a:schemeClr val="tx2">
                  <a:lumMod val="50000"/>
                </a:schemeClr>
              </a:solidFill>
            </a:endParaRPr>
          </a:p>
          <a:p>
            <a:pPr algn="just"/>
            <a:r>
              <a:rPr lang="fr-FR" sz="2800" b="1" dirty="0">
                <a:solidFill>
                  <a:schemeClr val="tx2">
                    <a:lumMod val="50000"/>
                  </a:schemeClr>
                </a:solidFill>
              </a:rPr>
              <a:t>  </a:t>
            </a:r>
          </a:p>
          <a:p>
            <a:pPr algn="ctr"/>
            <a:endParaRPr lang="fr-FR" sz="2400" b="1" dirty="0">
              <a:solidFill>
                <a:schemeClr val="tx2">
                  <a:lumMod val="50000"/>
                </a:schemeClr>
              </a:solidFill>
            </a:endParaRPr>
          </a:p>
        </p:txBody>
      </p:sp>
    </p:spTree>
    <p:extLst>
      <p:ext uri="{BB962C8B-B14F-4D97-AF65-F5344CB8AC3E}">
        <p14:creationId xmlns:p14="http://schemas.microsoft.com/office/powerpoint/2010/main" val="155921392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t>b- Priorisation des mesures fiscales à caractère social (suite)</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altLang="fr-FR" sz="3200" b="1" dirty="0">
                <a:solidFill>
                  <a:srgbClr val="000000"/>
                </a:solidFill>
                <a:ea typeface="Times New Roman" panose="02020603050405020304" pitchFamily="18" charset="0"/>
              </a:rPr>
              <a:t> </a:t>
            </a:r>
            <a:r>
              <a:rPr lang="fr-FR" sz="2800" b="1" u="sng" dirty="0">
                <a:solidFill>
                  <a:schemeClr val="tx2">
                    <a:lumMod val="50000"/>
                  </a:schemeClr>
                </a:solidFill>
                <a:effectLst>
                  <a:outerShdw blurRad="38100" dist="38100" dir="2700000" algn="tl">
                    <a:srgbClr val="000000">
                      <a:alpha val="43137"/>
                    </a:srgbClr>
                  </a:outerShdw>
                </a:effectLst>
              </a:rPr>
              <a:t>Article 74 du CGI</a:t>
            </a:r>
            <a:r>
              <a:rPr lang="fr-FR" altLang="fr-FR" sz="2800" b="1" dirty="0">
                <a:solidFill>
                  <a:srgbClr val="000000"/>
                </a:solidFill>
                <a:ea typeface="Times New Roman" panose="02020603050405020304" pitchFamily="18" charset="0"/>
              </a:rPr>
              <a:t>        Tableau 1 : Barème par tranches de revenu et taux</a:t>
            </a:r>
            <a:endParaRPr lang="fr-FR" sz="2800" b="1" dirty="0">
              <a:solidFill>
                <a:schemeClr val="tx2">
                  <a:lumMod val="50000"/>
                </a:schemeClr>
              </a:solidFill>
            </a:endParaRPr>
          </a:p>
          <a:p>
            <a:pPr algn="just"/>
            <a:r>
              <a:rPr lang="fr-FR" sz="2800" b="1" dirty="0">
                <a:solidFill>
                  <a:schemeClr val="tx2">
                    <a:lumMod val="50000"/>
                  </a:schemeClr>
                </a:solidFill>
              </a:rPr>
              <a:t>  </a:t>
            </a:r>
          </a:p>
          <a:p>
            <a:pPr algn="ctr"/>
            <a:endParaRPr lang="fr-FR" sz="2400" b="1" dirty="0">
              <a:solidFill>
                <a:schemeClr val="tx2">
                  <a:lumMod val="50000"/>
                </a:schemeClr>
              </a:solidFill>
            </a:endParaRPr>
          </a:p>
        </p:txBody>
      </p:sp>
      <p:graphicFrame>
        <p:nvGraphicFramePr>
          <p:cNvPr id="3" name="Tableau 2"/>
          <p:cNvGraphicFramePr>
            <a:graphicFrameLocks noGrp="1"/>
          </p:cNvGraphicFramePr>
          <p:nvPr>
            <p:extLst>
              <p:ext uri="{D42A27DB-BD31-4B8C-83A1-F6EECF244321}">
                <p14:modId xmlns:p14="http://schemas.microsoft.com/office/powerpoint/2010/main" val="3479278429"/>
              </p:ext>
            </p:extLst>
          </p:nvPr>
        </p:nvGraphicFramePr>
        <p:xfrm>
          <a:off x="1409075" y="2563319"/>
          <a:ext cx="9353863" cy="3461008"/>
        </p:xfrm>
        <a:graphic>
          <a:graphicData uri="http://schemas.openxmlformats.org/drawingml/2006/table">
            <a:tbl>
              <a:tblPr firstRow="1" firstCol="1" bandRow="1">
                <a:tableStyleId>{5C22544A-7EE6-4342-B048-85BDC9FD1C3A}</a:tableStyleId>
              </a:tblPr>
              <a:tblGrid>
                <a:gridCol w="1149039">
                  <a:extLst>
                    <a:ext uri="{9D8B030D-6E8A-4147-A177-3AD203B41FA5}">
                      <a16:colId xmlns:a16="http://schemas.microsoft.com/office/drawing/2014/main" val="2992864973"/>
                    </a:ext>
                  </a:extLst>
                </a:gridCol>
                <a:gridCol w="2413266">
                  <a:extLst>
                    <a:ext uri="{9D8B030D-6E8A-4147-A177-3AD203B41FA5}">
                      <a16:colId xmlns:a16="http://schemas.microsoft.com/office/drawing/2014/main" val="1129443869"/>
                    </a:ext>
                  </a:extLst>
                </a:gridCol>
                <a:gridCol w="967834">
                  <a:extLst>
                    <a:ext uri="{9D8B030D-6E8A-4147-A177-3AD203B41FA5}">
                      <a16:colId xmlns:a16="http://schemas.microsoft.com/office/drawing/2014/main" val="2331655056"/>
                    </a:ext>
                  </a:extLst>
                </a:gridCol>
                <a:gridCol w="2410458">
                  <a:extLst>
                    <a:ext uri="{9D8B030D-6E8A-4147-A177-3AD203B41FA5}">
                      <a16:colId xmlns:a16="http://schemas.microsoft.com/office/drawing/2014/main" val="4077279362"/>
                    </a:ext>
                  </a:extLst>
                </a:gridCol>
                <a:gridCol w="2413266">
                  <a:extLst>
                    <a:ext uri="{9D8B030D-6E8A-4147-A177-3AD203B41FA5}">
                      <a16:colId xmlns:a16="http://schemas.microsoft.com/office/drawing/2014/main" val="2034011670"/>
                    </a:ext>
                  </a:extLst>
                </a:gridCol>
              </a:tblGrid>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900 000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exonéré</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1470665591"/>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900 001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3 000 000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3%</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4091287198"/>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dirty="0">
                          <a:effectLst/>
                        </a:rPr>
                        <a:t>3 000 001 </a:t>
                      </a:r>
                      <a:endParaRPr lang="fr-FR" sz="2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6 000 000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10%</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1895109289"/>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6 000 001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9 000 000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15%</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937431404"/>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9 000 001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12 000 000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20%</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3957609154"/>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12 000 001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15 000 000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25%</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537860418"/>
                  </a:ext>
                </a:extLst>
              </a:tr>
              <a:tr h="404734">
                <a:tc>
                  <a:txBody>
                    <a:bodyPr/>
                    <a:lstStyle/>
                    <a:p>
                      <a:pPr marL="1270" indent="-6350" algn="l">
                        <a:lnSpc>
                          <a:spcPct val="107000"/>
                        </a:lnSpc>
                        <a:spcAft>
                          <a:spcPts val="0"/>
                        </a:spcAft>
                      </a:pPr>
                      <a:r>
                        <a:rPr lang="fr-FR" sz="2400">
                          <a:effectLst/>
                        </a:rPr>
                        <a:t>de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15 000 001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l">
                        <a:lnSpc>
                          <a:spcPct val="107000"/>
                        </a:lnSpc>
                        <a:spcAft>
                          <a:spcPts val="0"/>
                        </a:spcAft>
                      </a:pPr>
                      <a:r>
                        <a:rPr lang="fr-FR" sz="2400">
                          <a:effectLst/>
                        </a:rPr>
                        <a:t>A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20 000 000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a:effectLst/>
                        </a:rPr>
                        <a:t>30%</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1876394331"/>
                  </a:ext>
                </a:extLst>
              </a:tr>
              <a:tr h="404734">
                <a:tc gridSpan="2">
                  <a:txBody>
                    <a:bodyPr/>
                    <a:lstStyle/>
                    <a:p>
                      <a:pPr marL="1270" indent="-6350" algn="l">
                        <a:lnSpc>
                          <a:spcPct val="107000"/>
                        </a:lnSpc>
                        <a:spcAft>
                          <a:spcPts val="0"/>
                        </a:spcAft>
                      </a:pPr>
                      <a:r>
                        <a:rPr lang="fr-FR" sz="2400">
                          <a:effectLst/>
                        </a:rPr>
                        <a:t>Plus de 20 000 000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hMerge="1">
                  <a:txBody>
                    <a:bodyPr/>
                    <a:lstStyle/>
                    <a:p>
                      <a:endParaRPr lang="fr-FR"/>
                    </a:p>
                  </a:txBody>
                  <a:tcPr/>
                </a:tc>
                <a:tc>
                  <a:txBody>
                    <a:bodyPr/>
                    <a:lstStyle/>
                    <a:p>
                      <a:pPr marL="186055" indent="-6350" algn="l">
                        <a:lnSpc>
                          <a:spcPct val="107000"/>
                        </a:lnSpc>
                        <a:spcAft>
                          <a:spcPts val="800"/>
                        </a:spcAft>
                      </a:pPr>
                      <a:r>
                        <a:rPr lang="fr-FR" sz="2400">
                          <a:effectLst/>
                        </a:rPr>
                        <a:t>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86055" indent="-6350" algn="l">
                        <a:lnSpc>
                          <a:spcPct val="107000"/>
                        </a:lnSpc>
                        <a:spcAft>
                          <a:spcPts val="0"/>
                        </a:spcAft>
                      </a:pPr>
                      <a:r>
                        <a:rPr lang="fr-FR" sz="2400">
                          <a:effectLst/>
                        </a:rPr>
                        <a:t> </a:t>
                      </a:r>
                      <a:endParaRPr lang="fr-FR" sz="2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tc>
                  <a:txBody>
                    <a:bodyPr/>
                    <a:lstStyle/>
                    <a:p>
                      <a:pPr marL="1270" indent="-6350" algn="ctr">
                        <a:lnSpc>
                          <a:spcPct val="107000"/>
                        </a:lnSpc>
                        <a:spcAft>
                          <a:spcPts val="0"/>
                        </a:spcAft>
                      </a:pPr>
                      <a:r>
                        <a:rPr lang="fr-FR" sz="2400" dirty="0">
                          <a:effectLst/>
                        </a:rPr>
                        <a:t>35%</a:t>
                      </a:r>
                      <a:endParaRPr lang="fr-FR" sz="2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7310" marR="73025" marT="41275" marB="0"/>
                </a:tc>
                <a:extLst>
                  <a:ext uri="{0D108BD9-81ED-4DB2-BD59-A6C34878D82A}">
                    <a16:rowId xmlns:a16="http://schemas.microsoft.com/office/drawing/2014/main" val="4262829720"/>
                  </a:ext>
                </a:extLst>
              </a:tr>
            </a:tbl>
          </a:graphicData>
        </a:graphic>
      </p:graphicFrame>
    </p:spTree>
    <p:extLst>
      <p:ext uri="{BB962C8B-B14F-4D97-AF65-F5344CB8AC3E}">
        <p14:creationId xmlns:p14="http://schemas.microsoft.com/office/powerpoint/2010/main" val="407708674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t>b- Priorisation des mesures fiscales à caractère social </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2">
                    <a:lumMod val="50000"/>
                  </a:schemeClr>
                </a:solidFill>
                <a:effectLst>
                  <a:outerShdw blurRad="38100" dist="38100" dir="2700000" algn="tl">
                    <a:srgbClr val="000000">
                      <a:alpha val="43137"/>
                    </a:srgbClr>
                  </a:outerShdw>
                </a:effectLst>
              </a:rPr>
              <a:t>Art. 243 du CGI </a:t>
            </a:r>
            <a:endParaRPr lang="fr-FR" sz="3600" b="1" dirty="0">
              <a:solidFill>
                <a:schemeClr val="tx2">
                  <a:lumMod val="50000"/>
                </a:schemeClr>
              </a:solidFill>
            </a:endParaRPr>
          </a:p>
          <a:p>
            <a:pPr algn="just"/>
            <a:endParaRPr lang="fr-FR" sz="1400" b="1" dirty="0">
              <a:solidFill>
                <a:schemeClr val="tx2">
                  <a:lumMod val="50000"/>
                </a:schemeClr>
              </a:solidFill>
            </a:endParaRPr>
          </a:p>
          <a:p>
            <a:pPr algn="just"/>
            <a:r>
              <a:rPr lang="fr-FR" sz="4000" b="1" dirty="0">
                <a:solidFill>
                  <a:schemeClr val="tx2">
                    <a:lumMod val="50000"/>
                  </a:schemeClr>
                </a:solidFill>
              </a:rPr>
              <a:t>Le taux </a:t>
            </a:r>
            <a:r>
              <a:rPr lang="fr-FR" sz="4000" b="1" dirty="0" smtClean="0">
                <a:solidFill>
                  <a:schemeClr val="tx2">
                    <a:lumMod val="50000"/>
                  </a:schemeClr>
                </a:solidFill>
              </a:rPr>
              <a:t>des droits d’accises </a:t>
            </a:r>
            <a:r>
              <a:rPr lang="fr-FR" sz="4000" b="1" dirty="0">
                <a:solidFill>
                  <a:schemeClr val="tx2">
                    <a:lumMod val="50000"/>
                  </a:schemeClr>
                </a:solidFill>
              </a:rPr>
              <a:t>sur le tabac passe de 50 à 100%. </a:t>
            </a:r>
            <a:endParaRPr lang="fr-FR" sz="3600" b="1" dirty="0">
              <a:solidFill>
                <a:schemeClr val="tx2">
                  <a:lumMod val="50000"/>
                </a:schemeClr>
              </a:solidFill>
            </a:endParaRPr>
          </a:p>
        </p:txBody>
      </p:sp>
    </p:spTree>
    <p:extLst>
      <p:ext uri="{BB962C8B-B14F-4D97-AF65-F5344CB8AC3E}">
        <p14:creationId xmlns:p14="http://schemas.microsoft.com/office/powerpoint/2010/main" val="2738828875"/>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dirty="0"/>
              <a:t>b- Priorisation des mesures fiscales à caractère social </a:t>
            </a:r>
            <a:endParaRPr lang="fr-FR" sz="3000" b="1" dirty="0">
              <a:solidFill>
                <a:schemeClr val="bg1"/>
              </a:solidFill>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600" b="1" u="sng" dirty="0">
                <a:solidFill>
                  <a:schemeClr val="tx1"/>
                </a:solidFill>
                <a:effectLst>
                  <a:outerShdw blurRad="38100" dist="38100" dir="2700000" algn="tl">
                    <a:srgbClr val="000000">
                      <a:alpha val="43137"/>
                    </a:srgbClr>
                  </a:outerShdw>
                </a:effectLst>
              </a:rPr>
              <a:t>Art. 254 du CGI</a:t>
            </a:r>
          </a:p>
          <a:p>
            <a:pPr algn="just"/>
            <a:endParaRPr lang="fr-FR" sz="3600" b="1" dirty="0">
              <a:solidFill>
                <a:schemeClr val="tx1"/>
              </a:solidFill>
            </a:endParaRPr>
          </a:p>
          <a:p>
            <a:pPr algn="just"/>
            <a:r>
              <a:rPr lang="fr-FR" sz="3600" b="1" dirty="0">
                <a:solidFill>
                  <a:schemeClr val="tx1"/>
                </a:solidFill>
              </a:rPr>
              <a:t>Il est appliqué une réduction </a:t>
            </a:r>
            <a:r>
              <a:rPr lang="fr-FR" sz="3600" b="1" i="1" dirty="0">
                <a:solidFill>
                  <a:schemeClr val="tx1"/>
                </a:solidFill>
              </a:rPr>
              <a:t>de 60% du montant</a:t>
            </a:r>
            <a:r>
              <a:rPr lang="fr-FR" sz="3600" b="1" dirty="0">
                <a:solidFill>
                  <a:schemeClr val="tx1"/>
                </a:solidFill>
              </a:rPr>
              <a:t> de la patente des revendeurs de tissus pagnes assujettis à la TVA relevant du régime du réel normal d’imposition</a:t>
            </a:r>
            <a:endParaRPr lang="fr-FR" sz="4400" b="1" dirty="0">
              <a:solidFill>
                <a:schemeClr val="tx1"/>
              </a:solidFill>
            </a:endParaRPr>
          </a:p>
        </p:txBody>
      </p:sp>
    </p:spTree>
    <p:extLst>
      <p:ext uri="{BB962C8B-B14F-4D97-AF65-F5344CB8AC3E}">
        <p14:creationId xmlns:p14="http://schemas.microsoft.com/office/powerpoint/2010/main" val="3190168660"/>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t>c- Amélioration de la relation de confiance entre l'administration et le contribuable </a:t>
            </a:r>
            <a:endParaRPr lang="fr-FR" sz="3200" dirty="0"/>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r>
              <a:rPr lang="fr-FR" sz="3200" b="1" u="sng" dirty="0">
                <a:solidFill>
                  <a:schemeClr val="tx1"/>
                </a:solidFill>
                <a:effectLst>
                  <a:outerShdw blurRad="38100" dist="38100" dir="2700000" algn="tl">
                    <a:srgbClr val="000000">
                      <a:alpha val="43137"/>
                    </a:srgbClr>
                  </a:outerShdw>
                </a:effectLst>
              </a:rPr>
              <a:t>Art.238-bis</a:t>
            </a:r>
            <a:r>
              <a:rPr lang="fr-FR" sz="3200" b="1" dirty="0">
                <a:solidFill>
                  <a:schemeClr val="tx1"/>
                </a:solidFill>
                <a:effectLst>
                  <a:outerShdw blurRad="38100" dist="38100" dir="2700000" algn="tl">
                    <a:srgbClr val="000000">
                      <a:alpha val="43137"/>
                    </a:srgbClr>
                  </a:outerShdw>
                </a:effectLst>
              </a:rPr>
              <a:t> du LPF: (nouveau) </a:t>
            </a:r>
          </a:p>
          <a:p>
            <a:pPr algn="just"/>
            <a:r>
              <a:rPr lang="fr-FR" sz="3000" b="1" dirty="0">
                <a:solidFill>
                  <a:schemeClr val="tx1"/>
                </a:solidFill>
              </a:rPr>
              <a:t>Dans le domaine des dispositions applicables à la procédure de régularisation et dans l’optique d’encourager le civisme fiscal, la possibilité est laissée aux contribuables de bonne foi de corriger les erreurs, omissions ou inexactitudes constatées à l’issue d’une procédure de contrôle fiscal sans majorations liées à une infraction d’assiette. La loi leur permet désormais de procéder simplement à la déclaration des écarts constatés en ne payant que des intérêts de retard sur les sommes dues.</a:t>
            </a:r>
            <a:endParaRPr lang="fr-FR" sz="3000" b="1" dirty="0"/>
          </a:p>
        </p:txBody>
      </p:sp>
    </p:spTree>
    <p:extLst>
      <p:ext uri="{BB962C8B-B14F-4D97-AF65-F5344CB8AC3E}">
        <p14:creationId xmlns:p14="http://schemas.microsoft.com/office/powerpoint/2010/main" val="2476571603"/>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t>c- Amélioration de la relation de confiance entre l'administration et le contribuable </a:t>
            </a:r>
            <a:endParaRPr lang="fr-FR" sz="3200" dirty="0"/>
          </a:p>
        </p:txBody>
      </p:sp>
      <p:sp>
        <p:nvSpPr>
          <p:cNvPr id="12" name="Arrondir un rectangle avec un coin diagonal 11"/>
          <p:cNvSpPr/>
          <p:nvPr/>
        </p:nvSpPr>
        <p:spPr>
          <a:xfrm>
            <a:off x="232362" y="1594835"/>
            <a:ext cx="11641540" cy="4771044"/>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200" b="1" u="sng" dirty="0">
                <a:solidFill>
                  <a:schemeClr val="tx1"/>
                </a:solidFill>
                <a:effectLst>
                  <a:outerShdw blurRad="38100" dist="38100" dir="2700000" algn="tl">
                    <a:srgbClr val="000000">
                      <a:alpha val="43137"/>
                    </a:srgbClr>
                  </a:outerShdw>
                </a:effectLst>
              </a:rPr>
              <a:t>Art. 14 du LPF</a:t>
            </a:r>
            <a:r>
              <a:rPr lang="fr-FR" sz="3200" b="1" dirty="0">
                <a:solidFill>
                  <a:schemeClr val="tx1"/>
                </a:solidFill>
                <a:effectLst>
                  <a:outerShdw blurRad="38100" dist="38100" dir="2700000" algn="tl">
                    <a:srgbClr val="000000">
                      <a:alpha val="43137"/>
                    </a:srgbClr>
                  </a:outerShdw>
                </a:effectLst>
              </a:rPr>
              <a:t> :  </a:t>
            </a:r>
          </a:p>
          <a:p>
            <a:pPr algn="just"/>
            <a:endParaRPr lang="fr-FR" sz="3200" b="1" dirty="0">
              <a:solidFill>
                <a:schemeClr val="tx1"/>
              </a:solidFill>
              <a:effectLst>
                <a:outerShdw blurRad="38100" dist="38100" dir="2700000" algn="tl">
                  <a:srgbClr val="000000">
                    <a:alpha val="43137"/>
                  </a:srgbClr>
                </a:outerShdw>
              </a:effectLst>
            </a:endParaRPr>
          </a:p>
          <a:p>
            <a:pPr algn="just"/>
            <a:r>
              <a:rPr lang="fr-FR" sz="3200" b="1" dirty="0">
                <a:solidFill>
                  <a:schemeClr val="tx1"/>
                </a:solidFill>
              </a:rPr>
              <a:t>Renforcement de l’encadrement du délai dont dispose le contribuable pour informer l’administration fiscale de la cessation </a:t>
            </a:r>
            <a:r>
              <a:rPr lang="fr-FR" sz="3200" b="1" dirty="0" smtClean="0">
                <a:solidFill>
                  <a:schemeClr val="tx1"/>
                </a:solidFill>
              </a:rPr>
              <a:t>d’activités </a:t>
            </a:r>
            <a:r>
              <a:rPr lang="fr-FR" sz="3200" b="1" dirty="0">
                <a:solidFill>
                  <a:schemeClr val="tx1"/>
                </a:solidFill>
              </a:rPr>
              <a:t>d’une part et du non-démarrage d’activités pour les entreprises nouvelles d’autre part. (15 jours)</a:t>
            </a:r>
          </a:p>
        </p:txBody>
      </p:sp>
    </p:spTree>
    <p:extLst>
      <p:ext uri="{BB962C8B-B14F-4D97-AF65-F5344CB8AC3E}">
        <p14:creationId xmlns:p14="http://schemas.microsoft.com/office/powerpoint/2010/main" val="3481516503"/>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solidFill>
                  <a:schemeClr val="bg1"/>
                </a:solidFill>
              </a:rPr>
              <a:t>d- </a:t>
            </a:r>
            <a:r>
              <a:rPr lang="fr-FR" sz="3200" b="1" dirty="0"/>
              <a:t>Reformulation et réajustement de dispositions</a:t>
            </a:r>
            <a:endParaRPr lang="fr-FR" sz="3200" dirty="0"/>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200" b="1" u="sng" dirty="0">
                <a:solidFill>
                  <a:schemeClr val="tx1"/>
                </a:solidFill>
                <a:effectLst>
                  <a:outerShdw blurRad="38100" dist="38100" dir="2700000" algn="tl">
                    <a:srgbClr val="000000">
                      <a:alpha val="43137"/>
                    </a:srgbClr>
                  </a:outerShdw>
                </a:effectLst>
              </a:rPr>
              <a:t>Art. 180 du CGI</a:t>
            </a:r>
            <a:r>
              <a:rPr lang="fr-FR" sz="3200" b="1" dirty="0">
                <a:solidFill>
                  <a:schemeClr val="tx1"/>
                </a:solidFill>
                <a:effectLst>
                  <a:outerShdw blurRad="38100" dist="38100" dir="2700000" algn="tl">
                    <a:srgbClr val="000000">
                      <a:alpha val="43137"/>
                    </a:srgbClr>
                  </a:outerShdw>
                </a:effectLst>
              </a:rPr>
              <a:t> : (</a:t>
            </a:r>
            <a:r>
              <a:rPr lang="fr-FR" sz="3200" b="1" i="1" u="sng" dirty="0">
                <a:solidFill>
                  <a:schemeClr val="tx1"/>
                </a:solidFill>
                <a:effectLst>
                  <a:outerShdw blurRad="38100" dist="38100" dir="2700000" algn="tl">
                    <a:srgbClr val="000000">
                      <a:alpha val="43137"/>
                    </a:srgbClr>
                  </a:outerShdw>
                </a:effectLst>
              </a:rPr>
              <a:t>Art. 180 IV-3 du CGI a été modifié)</a:t>
            </a:r>
          </a:p>
          <a:p>
            <a:pPr algn="just"/>
            <a:endParaRPr lang="fr-FR" sz="3200" b="1" i="1" u="sng" dirty="0">
              <a:solidFill>
                <a:schemeClr val="tx1"/>
              </a:solidFill>
            </a:endParaRPr>
          </a:p>
          <a:p>
            <a:pPr algn="just"/>
            <a:r>
              <a:rPr lang="fr-FR" sz="3200" b="1" dirty="0">
                <a:solidFill>
                  <a:schemeClr val="tx1"/>
                </a:solidFill>
              </a:rPr>
              <a:t>Sont exonérés de la taxe sur la valeur ajoutée (TVA):</a:t>
            </a:r>
            <a:endParaRPr lang="fr-FR" sz="4800" b="1" dirty="0">
              <a:solidFill>
                <a:schemeClr val="tx1"/>
              </a:solidFill>
            </a:endParaRPr>
          </a:p>
          <a:p>
            <a:pPr lvl="0" algn="just"/>
            <a:r>
              <a:rPr lang="fr-FR" sz="3200" b="1" dirty="0">
                <a:solidFill>
                  <a:schemeClr val="tx1"/>
                </a:solidFill>
              </a:rPr>
              <a:t>les opérations effectuées par les cantines scolaires et universitaires au profit exclusif des élèves et des étudiants. Il en est de même pour les cantines d’entreprise au profit exclusif de leur personnel. </a:t>
            </a:r>
          </a:p>
          <a:p>
            <a:pPr algn="just"/>
            <a:endParaRPr lang="fr-FR" sz="3200" b="1" dirty="0">
              <a:solidFill>
                <a:schemeClr val="tx2">
                  <a:lumMod val="50000"/>
                </a:schemeClr>
              </a:solidFill>
            </a:endParaRPr>
          </a:p>
        </p:txBody>
      </p:sp>
    </p:spTree>
    <p:extLst>
      <p:ext uri="{BB962C8B-B14F-4D97-AF65-F5344CB8AC3E}">
        <p14:creationId xmlns:p14="http://schemas.microsoft.com/office/powerpoint/2010/main" val="905077308"/>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solidFill>
                  <a:schemeClr val="bg1"/>
                </a:solidFill>
              </a:rPr>
              <a:t>d- </a:t>
            </a:r>
            <a:r>
              <a:rPr lang="fr-FR" sz="3200" b="1" dirty="0"/>
              <a:t>Reformulation et réajustement de dispositions</a:t>
            </a:r>
            <a:endParaRPr lang="fr-FR" sz="3200" dirty="0"/>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2800" b="1" u="sng" dirty="0">
                <a:solidFill>
                  <a:schemeClr val="tx1"/>
                </a:solidFill>
              </a:rPr>
              <a:t>Art. 113 du LPF :</a:t>
            </a:r>
            <a:r>
              <a:rPr lang="fr-FR" sz="2800" b="1" dirty="0">
                <a:solidFill>
                  <a:schemeClr val="tx1"/>
                </a:solidFill>
              </a:rPr>
              <a:t> </a:t>
            </a:r>
          </a:p>
          <a:p>
            <a:endParaRPr lang="fr-FR" dirty="0"/>
          </a:p>
        </p:txBody>
      </p:sp>
      <p:graphicFrame>
        <p:nvGraphicFramePr>
          <p:cNvPr id="2" name="Tableau 1"/>
          <p:cNvGraphicFramePr>
            <a:graphicFrameLocks noGrp="1"/>
          </p:cNvGraphicFramePr>
          <p:nvPr>
            <p:extLst>
              <p:ext uri="{D42A27DB-BD31-4B8C-83A1-F6EECF244321}">
                <p14:modId xmlns:p14="http://schemas.microsoft.com/office/powerpoint/2010/main" val="1534544829"/>
              </p:ext>
            </p:extLst>
          </p:nvPr>
        </p:nvGraphicFramePr>
        <p:xfrm>
          <a:off x="857248" y="2554145"/>
          <a:ext cx="10300192" cy="3725836"/>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150096">
                  <a:extLst>
                    <a:ext uri="{9D8B030D-6E8A-4147-A177-3AD203B41FA5}">
                      <a16:colId xmlns:a16="http://schemas.microsoft.com/office/drawing/2014/main" val="1805974959"/>
                    </a:ext>
                  </a:extLst>
                </a:gridCol>
                <a:gridCol w="5150096">
                  <a:extLst>
                    <a:ext uri="{9D8B030D-6E8A-4147-A177-3AD203B41FA5}">
                      <a16:colId xmlns:a16="http://schemas.microsoft.com/office/drawing/2014/main" val="1106226032"/>
                    </a:ext>
                  </a:extLst>
                </a:gridCol>
              </a:tblGrid>
              <a:tr h="982636">
                <a:tc>
                  <a:txBody>
                    <a:bodyPr/>
                    <a:lstStyle/>
                    <a:p>
                      <a:pPr algn="ctr"/>
                      <a:r>
                        <a:rPr lang="fr-FR" sz="3200" dirty="0">
                          <a:solidFill>
                            <a:schemeClr val="tx1"/>
                          </a:solidFill>
                        </a:rPr>
                        <a:t>INFRACTION</a:t>
                      </a:r>
                    </a:p>
                  </a:txBody>
                  <a:tcPr/>
                </a:tc>
                <a:tc>
                  <a:txBody>
                    <a:bodyPr/>
                    <a:lstStyle/>
                    <a:p>
                      <a:pPr algn="ctr"/>
                      <a:r>
                        <a:rPr lang="fr-FR" sz="3200" dirty="0">
                          <a:solidFill>
                            <a:schemeClr val="tx1"/>
                          </a:solidFill>
                        </a:rPr>
                        <a:t>SANCTION</a:t>
                      </a:r>
                    </a:p>
                  </a:txBody>
                  <a:tcPr/>
                </a:tc>
                <a:extLst>
                  <a:ext uri="{0D108BD9-81ED-4DB2-BD59-A6C34878D82A}">
                    <a16:rowId xmlns:a16="http://schemas.microsoft.com/office/drawing/2014/main" val="1454518645"/>
                  </a:ext>
                </a:extLst>
              </a:tr>
              <a:tr h="982636">
                <a:tc>
                  <a:txBody>
                    <a:bodyPr/>
                    <a:lstStyle/>
                    <a:p>
                      <a:pPr algn="l"/>
                      <a:r>
                        <a:rPr lang="fr-FR" sz="2800" b="1" dirty="0">
                          <a:solidFill>
                            <a:schemeClr val="tx1"/>
                          </a:solidFill>
                        </a:rPr>
                        <a:t>Défaut de tenue de comptabilité informatisée</a:t>
                      </a:r>
                      <a:r>
                        <a:rPr lang="fr-FR" sz="2800" b="1" baseline="0" dirty="0">
                          <a:solidFill>
                            <a:schemeClr val="tx1"/>
                          </a:solidFill>
                        </a:rPr>
                        <a:t> selon art. 216</a:t>
                      </a:r>
                      <a:endParaRPr lang="fr-FR" sz="2800" b="1" dirty="0">
                        <a:solidFill>
                          <a:schemeClr val="tx1"/>
                        </a:solidFill>
                      </a:endParaRPr>
                    </a:p>
                  </a:txBody>
                  <a:tcPr/>
                </a:tc>
                <a:tc>
                  <a:txBody>
                    <a:bodyPr/>
                    <a:lstStyle/>
                    <a:p>
                      <a:pPr algn="l"/>
                      <a:r>
                        <a:rPr lang="fr-FR" sz="2800" b="1" dirty="0">
                          <a:solidFill>
                            <a:schemeClr val="tx1"/>
                          </a:solidFill>
                        </a:rPr>
                        <a:t>Dix millions (10 000 000) de francs CFA ou d’une majoration de 10% des droits simples </a:t>
                      </a:r>
                    </a:p>
                  </a:txBody>
                  <a:tcPr/>
                </a:tc>
                <a:extLst>
                  <a:ext uri="{0D108BD9-81ED-4DB2-BD59-A6C34878D82A}">
                    <a16:rowId xmlns:a16="http://schemas.microsoft.com/office/drawing/2014/main" val="578763101"/>
                  </a:ext>
                </a:extLst>
              </a:tr>
              <a:tr h="982636">
                <a:tc>
                  <a:txBody>
                    <a:bodyPr/>
                    <a:lstStyle/>
                    <a:p>
                      <a:pPr algn="l"/>
                      <a:r>
                        <a:rPr lang="fr-FR" sz="2800" b="1" dirty="0">
                          <a:solidFill>
                            <a:schemeClr val="tx1"/>
                          </a:solidFill>
                        </a:rPr>
                        <a:t>Défaut de transmission dans les délais de la comptabilité </a:t>
                      </a:r>
                    </a:p>
                  </a:txBody>
                  <a:tcPr/>
                </a:tc>
                <a:tc>
                  <a:txBody>
                    <a:bodyPr/>
                    <a:lstStyle/>
                    <a:p>
                      <a:pPr algn="l"/>
                      <a:r>
                        <a:rPr lang="fr-FR" sz="2800" b="1" dirty="0">
                          <a:solidFill>
                            <a:schemeClr val="tx1"/>
                          </a:solidFill>
                        </a:rPr>
                        <a:t>vingt millions (20 000 000) de francs CFA. </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2800" b="1" dirty="0">
                        <a:solidFill>
                          <a:schemeClr val="tx1"/>
                        </a:solidFill>
                        <a:effectLst/>
                      </a:endParaRPr>
                    </a:p>
                  </a:txBody>
                  <a:tcPr/>
                </a:tc>
                <a:extLst>
                  <a:ext uri="{0D108BD9-81ED-4DB2-BD59-A6C34878D82A}">
                    <a16:rowId xmlns:a16="http://schemas.microsoft.com/office/drawing/2014/main" val="2397012474"/>
                  </a:ext>
                </a:extLst>
              </a:tr>
            </a:tbl>
          </a:graphicData>
        </a:graphic>
      </p:graphicFrame>
    </p:spTree>
    <p:extLst>
      <p:ext uri="{BB962C8B-B14F-4D97-AF65-F5344CB8AC3E}">
        <p14:creationId xmlns:p14="http://schemas.microsoft.com/office/powerpoint/2010/main" val="311839777"/>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solidFill>
                  <a:schemeClr val="bg1"/>
                </a:solidFill>
              </a:rPr>
              <a:t>d- </a:t>
            </a:r>
            <a:r>
              <a:rPr lang="fr-FR" sz="3200" b="1" dirty="0"/>
              <a:t>Reformulation et réajustement de dispositions</a:t>
            </a:r>
            <a:endParaRPr lang="fr-FR" sz="3200" dirty="0"/>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200" b="1" u="sng" dirty="0">
                <a:solidFill>
                  <a:schemeClr val="tx2">
                    <a:lumMod val="50000"/>
                  </a:schemeClr>
                </a:solidFill>
                <a:effectLst>
                  <a:outerShdw blurRad="38100" dist="38100" dir="2700000" algn="tl">
                    <a:srgbClr val="000000">
                      <a:alpha val="43137"/>
                    </a:srgbClr>
                  </a:outerShdw>
                </a:effectLst>
              </a:rPr>
              <a:t>Article 227 LPF</a:t>
            </a:r>
          </a:p>
          <a:p>
            <a:pPr algn="just"/>
            <a:endParaRPr lang="fr-FR" sz="3200" b="1" dirty="0">
              <a:solidFill>
                <a:schemeClr val="tx2">
                  <a:lumMod val="50000"/>
                </a:schemeClr>
              </a:solidFill>
            </a:endParaRPr>
          </a:p>
          <a:p>
            <a:pPr algn="just"/>
            <a:r>
              <a:rPr lang="fr-FR" sz="3200" b="1" dirty="0">
                <a:solidFill>
                  <a:schemeClr val="tx2">
                    <a:lumMod val="50000"/>
                  </a:schemeClr>
                </a:solidFill>
              </a:rPr>
              <a:t>Le législateur clarifie la disposition en précisant qu’avant l’expiration du délai de sept (07) jours et sur demande du contribuable, une prorogation de délai ne pouvant excéder huit (08) jours peut être accordée.</a:t>
            </a:r>
          </a:p>
        </p:txBody>
      </p:sp>
    </p:spTree>
    <p:extLst>
      <p:ext uri="{BB962C8B-B14F-4D97-AF65-F5344CB8AC3E}">
        <p14:creationId xmlns:p14="http://schemas.microsoft.com/office/powerpoint/2010/main" val="3485141309"/>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Terminateur 9"/>
          <p:cNvSpPr/>
          <p:nvPr/>
        </p:nvSpPr>
        <p:spPr>
          <a:xfrm>
            <a:off x="684386" y="167144"/>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3200" b="1" dirty="0">
                <a:solidFill>
                  <a:schemeClr val="bg1"/>
                </a:solidFill>
              </a:rPr>
              <a:t>d- </a:t>
            </a:r>
            <a:r>
              <a:rPr lang="fr-FR" sz="3200" b="1" dirty="0"/>
              <a:t>Reformulation et réajustement de dispositions</a:t>
            </a:r>
            <a:endParaRPr lang="fr-FR" sz="3200" dirty="0"/>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a:r>
              <a:rPr lang="fr-FR" sz="3200" b="1" u="sng" dirty="0">
                <a:solidFill>
                  <a:schemeClr val="tx2">
                    <a:lumMod val="50000"/>
                  </a:schemeClr>
                </a:solidFill>
                <a:effectLst>
                  <a:outerShdw blurRad="38100" dist="38100" dir="2700000" algn="tl">
                    <a:srgbClr val="000000">
                      <a:alpha val="43137"/>
                    </a:srgbClr>
                  </a:outerShdw>
                </a:effectLst>
              </a:rPr>
              <a:t>Art 515 du LPF</a:t>
            </a:r>
            <a:r>
              <a:rPr lang="fr-FR" sz="3200" b="1" dirty="0">
                <a:solidFill>
                  <a:schemeClr val="tx2">
                    <a:lumMod val="50000"/>
                  </a:schemeClr>
                </a:solidFill>
              </a:rPr>
              <a:t> :</a:t>
            </a:r>
          </a:p>
          <a:p>
            <a:pPr algn="just"/>
            <a:endParaRPr lang="fr-FR" sz="900" b="1" dirty="0">
              <a:solidFill>
                <a:schemeClr val="tx2">
                  <a:lumMod val="50000"/>
                </a:schemeClr>
              </a:solidFill>
            </a:endParaRPr>
          </a:p>
          <a:p>
            <a:pPr algn="just"/>
            <a:r>
              <a:rPr lang="fr-FR" sz="3200" b="1" dirty="0">
                <a:solidFill>
                  <a:schemeClr val="tx2">
                    <a:lumMod val="50000"/>
                  </a:schemeClr>
                </a:solidFill>
              </a:rPr>
              <a:t>D</a:t>
            </a:r>
            <a:r>
              <a:rPr lang="fr-FR" sz="3200" b="1" dirty="0" smtClean="0">
                <a:solidFill>
                  <a:schemeClr val="tx2">
                    <a:lumMod val="50000"/>
                  </a:schemeClr>
                </a:solidFill>
              </a:rPr>
              <a:t>ésormais </a:t>
            </a:r>
            <a:r>
              <a:rPr lang="fr-FR" sz="3200" b="1" dirty="0">
                <a:solidFill>
                  <a:schemeClr val="tx2">
                    <a:lumMod val="50000"/>
                  </a:schemeClr>
                </a:solidFill>
              </a:rPr>
              <a:t>l’avis de mise en recouvrement (AMR) </a:t>
            </a:r>
            <a:r>
              <a:rPr lang="fr-FR" sz="3200" b="1" dirty="0" smtClean="0">
                <a:solidFill>
                  <a:schemeClr val="tx2">
                    <a:lumMod val="50000"/>
                  </a:schemeClr>
                </a:solidFill>
              </a:rPr>
              <a:t>n’est plus sur la liste des </a:t>
            </a:r>
            <a:r>
              <a:rPr lang="fr-FR" sz="3200" b="1" dirty="0" smtClean="0">
                <a:solidFill>
                  <a:schemeClr val="tx1"/>
                </a:solidFill>
              </a:rPr>
              <a:t>actes </a:t>
            </a:r>
            <a:r>
              <a:rPr lang="fr-FR" sz="3200" b="1" dirty="0">
                <a:solidFill>
                  <a:schemeClr val="tx2">
                    <a:lumMod val="50000"/>
                  </a:schemeClr>
                </a:solidFill>
              </a:rPr>
              <a:t>de </a:t>
            </a:r>
            <a:r>
              <a:rPr lang="fr-FR" sz="3200" b="1" dirty="0" smtClean="0">
                <a:solidFill>
                  <a:schemeClr val="tx2">
                    <a:lumMod val="50000"/>
                  </a:schemeClr>
                </a:solidFill>
              </a:rPr>
              <a:t>poursuite en matière de recouvrement. </a:t>
            </a:r>
            <a:endParaRPr lang="fr-FR" sz="3200" b="1" dirty="0">
              <a:solidFill>
                <a:schemeClr val="tx2">
                  <a:lumMod val="50000"/>
                </a:schemeClr>
              </a:solidFill>
            </a:endParaRPr>
          </a:p>
        </p:txBody>
      </p:sp>
    </p:spTree>
    <p:extLst>
      <p:ext uri="{BB962C8B-B14F-4D97-AF65-F5344CB8AC3E}">
        <p14:creationId xmlns:p14="http://schemas.microsoft.com/office/powerpoint/2010/main" val="3272889135"/>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419948" y="178473"/>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mn-cs"/>
              </a:rPr>
              <a:t>II- LES MESURES SPECIFIQUES</a:t>
            </a:r>
            <a:endPar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a- </a:t>
            </a:r>
            <a:r>
              <a:rPr kumimoji="0" lang="fr-FR" sz="24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Les mesures reconduites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Au titre des mesures spécifiques reconduites, on note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9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la perception de la taxe de Prélèvement de l’Union Africaine (PUA) ;</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fr-FR" sz="1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la régularisation de la Taxe de Laissez-Passer (TLP) ;</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fr-FR" sz="10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la perception du Prélèvement National de Solidarité (PNS) ;</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fr-FR" sz="105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 l’exonération des droits et taxes de douanes sur les véhicules de transport de marchandises et de personnes, de cinq (5) ans d’âge au maximum importés ou vendus en République togolaise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0249693"/>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419948" y="178473"/>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mn-cs"/>
              </a:rPr>
              <a:t>II- LES MESURES SPECIFIQUES</a:t>
            </a:r>
            <a:endPar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a- </a:t>
            </a:r>
            <a:r>
              <a:rPr kumimoji="0" lang="fr-FR" sz="24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Les mesures reconduites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Tx/>
              <a:buChar char="-"/>
              <a:tabLst/>
              <a:defRPr/>
            </a:pPr>
            <a:r>
              <a:rPr lang="fr-FR" sz="2600" b="1" dirty="0" smtClean="0">
                <a:solidFill>
                  <a:srgbClr val="44546A">
                    <a:lumMod val="50000"/>
                  </a:srgbClr>
                </a:solidFill>
                <a:latin typeface="Calibri" panose="020F0502020204030204"/>
              </a:rPr>
              <a:t>La reconduction du régime fiscal dérogatoire en faveur des entreprises en difficultés</a:t>
            </a:r>
          </a:p>
          <a:p>
            <a:pPr marL="457200" marR="0" lvl="0" indent="-457200" algn="just" defTabSz="914400" rtl="0" eaLnBrk="1" fontAlgn="auto" latinLnBrk="0" hangingPunct="1">
              <a:lnSpc>
                <a:spcPct val="100000"/>
              </a:lnSpc>
              <a:spcBef>
                <a:spcPts val="0"/>
              </a:spcBef>
              <a:spcAft>
                <a:spcPts val="0"/>
              </a:spcAft>
              <a:buClrTx/>
              <a:buSzTx/>
              <a:buFontTx/>
              <a:buChar char="-"/>
              <a:tabLst/>
              <a:defRPr/>
            </a:pPr>
            <a:r>
              <a:rPr kumimoji="0" lang="fr-FR" sz="26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Le régime de précompte TVA</a:t>
            </a:r>
          </a:p>
          <a:p>
            <a:pPr marR="0" lvl="0" algn="just" defTabSz="914400" rtl="0" eaLnBrk="1" fontAlgn="auto" latinLnBrk="0" hangingPunct="1">
              <a:lnSpc>
                <a:spcPct val="100000"/>
              </a:lnSpc>
              <a:spcBef>
                <a:spcPts val="0"/>
              </a:spcBef>
              <a:spcAft>
                <a:spcPts val="0"/>
              </a:spcAft>
              <a:buClrTx/>
              <a:buSzTx/>
              <a:tabLst/>
              <a:defRPr/>
            </a:pPr>
            <a:endParaRPr kumimoji="0" lang="fr-FR" sz="26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Tx/>
              <a:buChar char="-"/>
              <a:tabLst/>
              <a:defRPr/>
            </a:pPr>
            <a:r>
              <a:rPr lang="fr-FR" sz="2600" b="1" dirty="0" smtClean="0">
                <a:solidFill>
                  <a:srgbClr val="44546A">
                    <a:lumMod val="50000"/>
                  </a:srgbClr>
                </a:solidFill>
                <a:latin typeface="Calibri" panose="020F0502020204030204"/>
              </a:rPr>
              <a:t>Le droit de contrôle de l’administration fiscale sur l’exercice 2018</a:t>
            </a:r>
          </a:p>
          <a:p>
            <a:pPr marR="0" lvl="0" algn="just" defTabSz="914400" rtl="0" eaLnBrk="1" fontAlgn="auto" latinLnBrk="0" hangingPunct="1">
              <a:lnSpc>
                <a:spcPct val="100000"/>
              </a:lnSpc>
              <a:spcBef>
                <a:spcPts val="0"/>
              </a:spcBef>
              <a:spcAft>
                <a:spcPts val="0"/>
              </a:spcAft>
              <a:buClrTx/>
              <a:buSzTx/>
              <a:tabLst/>
              <a:defRPr/>
            </a:pPr>
            <a:endParaRPr lang="fr-FR" sz="2600" b="1" dirty="0" smtClean="0">
              <a:solidFill>
                <a:srgbClr val="44546A">
                  <a:lumMod val="50000"/>
                </a:srgbClr>
              </a:solidFill>
              <a:latin typeface="Calibri" panose="020F0502020204030204"/>
            </a:endParaRPr>
          </a:p>
          <a:p>
            <a:pPr marL="457200" marR="0" lvl="0" indent="-457200" algn="just" defTabSz="914400" rtl="0" eaLnBrk="1" fontAlgn="auto" latinLnBrk="0" hangingPunct="1">
              <a:lnSpc>
                <a:spcPct val="100000"/>
              </a:lnSpc>
              <a:spcBef>
                <a:spcPts val="0"/>
              </a:spcBef>
              <a:spcAft>
                <a:spcPts val="0"/>
              </a:spcAft>
              <a:buClrTx/>
              <a:buSzTx/>
              <a:buFontTx/>
              <a:buChar char="-"/>
              <a:tabLst/>
              <a:defRPr/>
            </a:pPr>
            <a:r>
              <a:rPr kumimoji="0" lang="fr-FR" sz="26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L’exonération des</a:t>
            </a:r>
            <a:r>
              <a:rPr kumimoji="0" lang="fr-FR" sz="2600" b="1" i="0" u="none" strike="noStrike" kern="1200" cap="none" spc="0" normalizeH="0" noProof="0" dirty="0" smtClean="0">
                <a:ln>
                  <a:noFill/>
                </a:ln>
                <a:solidFill>
                  <a:srgbClr val="44546A">
                    <a:lumMod val="50000"/>
                  </a:srgbClr>
                </a:solidFill>
                <a:effectLst/>
                <a:uLnTx/>
                <a:uFillTx/>
                <a:latin typeface="Calibri" panose="020F0502020204030204"/>
                <a:ea typeface="+mn-ea"/>
                <a:cs typeface="+mn-cs"/>
              </a:rPr>
              <a:t> droits de douane et de la TVA sur le matériel agricole et produits destinés à la lutte contre le Covid19</a:t>
            </a:r>
            <a:endParaRPr kumimoji="0" lang="fr-FR" sz="26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9180332"/>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419948" y="178473"/>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mn-cs"/>
              </a:rPr>
              <a:t>II- LES MESURES SPECIFIQUES</a:t>
            </a:r>
            <a:endPar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b-  les mesures nouvelles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Des </a:t>
            </a:r>
            <a:r>
              <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mesures nouvelles ont été introduites à savoir </a:t>
            </a: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a:t>
            </a: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Char char="-"/>
              <a:tabLst/>
              <a:defRPr/>
            </a:pPr>
            <a:r>
              <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la suspension de la perception de la Taxe sur les Véhicules à Moteur (TVM) au profit des professionnels des transports </a:t>
            </a: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a:t>
            </a: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l’exonération </a:t>
            </a:r>
            <a:r>
              <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des droits et taxes de douane sur les matériels et engins de Bâtiments et Travaux Publics (BTP</a:t>
            </a: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fr-FR" sz="2800" b="1" dirty="0" smtClean="0">
                <a:solidFill>
                  <a:srgbClr val="44546A">
                    <a:lumMod val="50000"/>
                  </a:srgbClr>
                </a:solidFill>
                <a:latin typeface="Calibri" panose="020F0502020204030204"/>
              </a:rPr>
              <a:t>Révision du barème IRPP;</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Exonération de</a:t>
            </a:r>
            <a:r>
              <a:rPr lang="fr-FR" sz="2800" b="1" dirty="0" smtClean="0">
                <a:solidFill>
                  <a:srgbClr val="44546A">
                    <a:lumMod val="50000"/>
                  </a:srgbClr>
                </a:solidFill>
                <a:latin typeface="Calibri" panose="020F0502020204030204"/>
              </a:rPr>
              <a:t>s cantines universitaires et d’entreprises de la TVA</a:t>
            </a: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1023898641"/>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88015" y="-780156"/>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riangle rectangle 21"/>
          <p:cNvSpPr/>
          <p:nvPr/>
        </p:nvSpPr>
        <p:spPr>
          <a:xfrm flipH="1">
            <a:off x="11157440" y="-214312"/>
            <a:ext cx="1034560" cy="11471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rganigramme : Terminateur 9"/>
          <p:cNvSpPr/>
          <p:nvPr/>
        </p:nvSpPr>
        <p:spPr>
          <a:xfrm>
            <a:off x="419948" y="178473"/>
            <a:ext cx="10737492" cy="1214497"/>
          </a:xfrm>
          <a:prstGeom prst="flowChartTerminator">
            <a:avLst/>
          </a:prstGeom>
          <a:solidFill>
            <a:srgbClr val="1F4E7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mn-cs"/>
              </a:rPr>
              <a:t>II- LES MESURES SPECIFIQUES</a:t>
            </a:r>
            <a:endParaRPr kumimoji="0" lang="fr-FR" sz="2600" b="1" i="0" u="none" strike="noStrike" kern="1200" cap="none" spc="0" normalizeH="0" baseline="0" noProof="0" dirty="0">
              <a:ln>
                <a:noFill/>
              </a:ln>
              <a:solidFill>
                <a:prstClr val="white"/>
              </a:solidFill>
              <a:effectLst/>
              <a:uLnTx/>
              <a:uFillTx/>
              <a:latin typeface="Calibri" panose="020F0502020204030204"/>
              <a:ea typeface="+mn-ea"/>
              <a:cs typeface="Times New Roman" panose="02020603050405020304" pitchFamily="18" charset="0"/>
            </a:endParaRPr>
          </a:p>
        </p:txBody>
      </p:sp>
      <p:sp>
        <p:nvSpPr>
          <p:cNvPr id="12" name="Arrondir un rectangle avec un coin diagonal 11"/>
          <p:cNvSpPr/>
          <p:nvPr/>
        </p:nvSpPr>
        <p:spPr>
          <a:xfrm>
            <a:off x="232362" y="1594835"/>
            <a:ext cx="11641540" cy="4569179"/>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rPr>
              <a:t>b-  les mesures nouvelles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800" b="1" i="0" u="sng" strike="noStrike" kern="1200" cap="none" spc="0" normalizeH="0" baseline="0" noProof="0" dirty="0">
              <a:ln>
                <a:noFill/>
              </a:ln>
              <a:solidFill>
                <a:srgbClr val="44546A">
                  <a:lumMod val="50000"/>
                </a:srgbClr>
              </a:solidFill>
              <a:effectLst>
                <a:outerShdw blurRad="38100" dist="38100" dir="2700000" algn="tl">
                  <a:srgbClr val="000000">
                    <a:alpha val="43137"/>
                  </a:srgbClr>
                </a:outerShdw>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2800" b="1" dirty="0" smtClean="0">
              <a:solidFill>
                <a:srgbClr val="44546A">
                  <a:lumMod val="50000"/>
                </a:srgbClr>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2800" b="1" dirty="0" smtClean="0">
                <a:solidFill>
                  <a:srgbClr val="44546A">
                    <a:lumMod val="50000"/>
                  </a:srgbClr>
                </a:solidFill>
                <a:latin typeface="Calibri" panose="020F0502020204030204"/>
              </a:rPr>
              <a:t>Art. 120 CDN: </a:t>
            </a:r>
            <a:r>
              <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 </a:t>
            </a:r>
            <a:r>
              <a:rPr kumimoji="0" lang="fr-FR" sz="2800" b="1" i="0" u="none" strike="noStrike" kern="1200" cap="none" spc="0" normalizeH="0" baseline="0" noProof="0" dirty="0" smtClean="0">
                <a:ln>
                  <a:noFill/>
                </a:ln>
                <a:solidFill>
                  <a:srgbClr val="44546A">
                    <a:lumMod val="50000"/>
                  </a:srgbClr>
                </a:solidFill>
                <a:effectLst/>
                <a:uLnTx/>
                <a:uFillTx/>
                <a:latin typeface="Calibri" panose="020F0502020204030204"/>
                <a:ea typeface="+mn-ea"/>
                <a:cs typeface="+mn-cs"/>
              </a:rPr>
              <a:t>Encadrement des modalités</a:t>
            </a:r>
            <a:r>
              <a:rPr kumimoji="0" lang="fr-FR" sz="2800" b="1" i="0" u="none" strike="noStrike" kern="1200" cap="none" spc="0" normalizeH="0" noProof="0" dirty="0" smtClean="0">
                <a:ln>
                  <a:noFill/>
                </a:ln>
                <a:solidFill>
                  <a:srgbClr val="44546A">
                    <a:lumMod val="50000"/>
                  </a:srgbClr>
                </a:solidFill>
                <a:effectLst/>
                <a:uLnTx/>
                <a:uFillTx/>
                <a:latin typeface="Calibri" panose="020F0502020204030204"/>
                <a:ea typeface="+mn-ea"/>
                <a:cs typeface="+mn-cs"/>
              </a:rPr>
              <a:t> la première intervention en entreprise en matière du contrôle douanier a posteriori.</a:t>
            </a:r>
            <a:endParaRPr kumimoji="0" lang="fr-FR" sz="2800" b="1"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132349710"/>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9"/>
          <p:cNvPicPr>
            <a:picLocks noChangeAspect="1"/>
          </p:cNvPicPr>
          <p:nvPr/>
        </p:nvPicPr>
        <p:blipFill>
          <a:blip r:embed="rId3" cstate="print">
            <a:extLst>
              <a:ext uri="{28A0092B-C50C-407E-A947-70E740481C1C}">
                <a14:useLocalDpi xmlns:a14="http://schemas.microsoft.com/office/drawing/2010/main" val="0"/>
              </a:ext>
            </a:extLst>
          </a:blip>
          <a:srcRect l="13474" t="40157" r="12920" b="27361"/>
          <a:stretch>
            <a:fillRect/>
          </a:stretch>
        </p:blipFill>
        <p:spPr bwMode="auto">
          <a:xfrm>
            <a:off x="10307781" y="6365879"/>
            <a:ext cx="1505775" cy="24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C:\Users\USER\Desktop\doc\logojpg\Logo-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25" y="6164014"/>
            <a:ext cx="947050" cy="530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6656977" y="-407300"/>
            <a:ext cx="6293769" cy="8689015"/>
          </a:xfrm>
          <a:prstGeom prst="rect">
            <a:avLst/>
          </a:prstGeom>
          <a:blipFill dpi="0" rotWithShape="1">
            <a:blip r:embed="rId5">
              <a:alphaModFix amt="13000"/>
            </a:blip>
            <a:srcRect/>
            <a:stretch>
              <a:fillRect l="7000" r="-82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rectangle 21"/>
          <p:cNvSpPr/>
          <p:nvPr/>
        </p:nvSpPr>
        <p:spPr>
          <a:xfrm flipH="1">
            <a:off x="11157440" y="0"/>
            <a:ext cx="1034560" cy="932873"/>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139234" y="0"/>
            <a:ext cx="759464" cy="1006764"/>
          </a:xfrm>
          <a:prstGeom prst="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0" dirty="0">
              <a:latin typeface="Britannic Bold" panose="020B0903060703020204" pitchFamily="34" charset="0"/>
            </a:endParaRPr>
          </a:p>
        </p:txBody>
      </p:sp>
      <p:pic>
        <p:nvPicPr>
          <p:cNvPr id="11" name="Imag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74320" y="1739335"/>
            <a:ext cx="2606722" cy="4395747"/>
          </a:xfrm>
          <a:prstGeom prst="rect">
            <a:avLst/>
          </a:prstGeom>
        </p:spPr>
      </p:pic>
      <p:sp>
        <p:nvSpPr>
          <p:cNvPr id="13" name="Arrondir un rectangle avec un coin diagonal 12"/>
          <p:cNvSpPr/>
          <p:nvPr/>
        </p:nvSpPr>
        <p:spPr>
          <a:xfrm>
            <a:off x="2881042" y="1638194"/>
            <a:ext cx="7462982" cy="4314008"/>
          </a:xfrm>
          <a:prstGeom prst="round2DiagRect">
            <a:avLst/>
          </a:prstGeom>
          <a:solidFill>
            <a:schemeClr val="tx2">
              <a:lumMod val="20000"/>
              <a:lumOff val="80000"/>
            </a:schemeClr>
          </a:solidFill>
          <a:ln w="28575">
            <a:solidFill>
              <a:srgbClr val="0A478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fr-FR" sz="8800" dirty="0">
              <a:solidFill>
                <a:schemeClr val="tx2">
                  <a:lumMod val="50000"/>
                </a:schemeClr>
              </a:solidFill>
              <a:latin typeface="Bradley Hand" pitchFamily="2" charset="77"/>
            </a:endParaRPr>
          </a:p>
          <a:p>
            <a:pPr algn="ctr"/>
            <a:r>
              <a:rPr lang="fr-FR" sz="8800" dirty="0">
                <a:solidFill>
                  <a:schemeClr val="tx2">
                    <a:lumMod val="50000"/>
                  </a:schemeClr>
                </a:solidFill>
                <a:latin typeface="Bradley Hand" pitchFamily="2" charset="77"/>
              </a:rPr>
              <a:t>MERCI</a:t>
            </a:r>
          </a:p>
        </p:txBody>
      </p:sp>
      <p:pic>
        <p:nvPicPr>
          <p:cNvPr id="14" name="Imag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570464" y="1638194"/>
            <a:ext cx="1109472" cy="1097280"/>
          </a:xfrm>
          <a:prstGeom prst="rect">
            <a:avLst/>
          </a:prstGeom>
        </p:spPr>
      </p:pic>
      <p:pic>
        <p:nvPicPr>
          <p:cNvPr id="15" name="Imag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08564" y="3205688"/>
            <a:ext cx="1109472" cy="1097280"/>
          </a:xfrm>
          <a:prstGeom prst="rect">
            <a:avLst/>
          </a:prstGeom>
        </p:spPr>
      </p:pic>
      <p:pic>
        <p:nvPicPr>
          <p:cNvPr id="16" name="Imag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570464" y="4720238"/>
            <a:ext cx="1109472" cy="1097280"/>
          </a:xfrm>
          <a:prstGeom prst="rect">
            <a:avLst/>
          </a:prstGeom>
        </p:spPr>
      </p:pic>
    </p:spTree>
    <p:extLst>
      <p:ext uri="{BB962C8B-B14F-4D97-AF65-F5344CB8AC3E}">
        <p14:creationId xmlns:p14="http://schemas.microsoft.com/office/powerpoint/2010/main" val="1286537060"/>
      </p:ext>
    </p:extLst>
  </p:cSld>
  <p:clrMapOvr>
    <a:masterClrMapping/>
  </p:clrMapOvr>
  <p:transition spd="med">
    <p:pull/>
  </p:transition>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17917</TotalTime>
  <Words>3179</Words>
  <Application>Microsoft Office PowerPoint</Application>
  <PresentationFormat>Grand écran</PresentationFormat>
  <Paragraphs>277</Paragraphs>
  <Slides>28</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28</vt:i4>
      </vt:variant>
    </vt:vector>
  </HeadingPairs>
  <TitlesOfParts>
    <vt:vector size="37" baseType="lpstr">
      <vt:lpstr>Arial</vt:lpstr>
      <vt:lpstr>Bradley Hand</vt:lpstr>
      <vt:lpstr>Britannic Bold</vt:lpstr>
      <vt:lpstr>Calibri</vt:lpstr>
      <vt:lpstr>Calibri Light</vt:lpstr>
      <vt:lpstr>Century Gothic</vt:lpstr>
      <vt:lpstr>Times New Roman</vt:lpstr>
      <vt:lpstr>Tw Cen MT</vt:lpstr>
      <vt:lpstr>Office Theme</vt:lpstr>
      <vt:lpstr>PRESENTATION DES MESURES FISCALES ET DOUANIERES CONTENUES DANS LA LOI DE FINANCES Exercice 2023</vt:lpstr>
      <vt:lpstr>Présentation PowerPoint</vt:lpstr>
      <vt:lpstr>INTRODUCTION</vt:lpstr>
      <vt:lpstr>INTRODUCTION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Falilatou ISSA</dc:creator>
  <cp:lastModifiedBy>Dodema BITENIWE</cp:lastModifiedBy>
  <cp:revision>419</cp:revision>
  <cp:lastPrinted>2023-01-09T10:14:53Z</cp:lastPrinted>
  <dcterms:created xsi:type="dcterms:W3CDTF">2022-01-07T07:22:21Z</dcterms:created>
  <dcterms:modified xsi:type="dcterms:W3CDTF">2023-01-11T11:55:17Z</dcterms:modified>
</cp:coreProperties>
</file>